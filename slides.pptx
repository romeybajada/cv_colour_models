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Aref Ruqaa"/>
      <p:regular r:id="rId37"/>
      <p:bold r:id="rId38"/>
    </p:embeddedFont>
    <p:embeddedFont>
      <p:font typeface="Noto Sans Symbols"/>
      <p:regular r:id="rId39"/>
      <p:bold r:id="rId40"/>
    </p:embeddedFont>
    <p:embeddedFont>
      <p:font typeface="Albert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2C3BB8-D4FD-448C-8DE3-E6DD2C934787}">
  <a:tblStyle styleId="{272C3BB8-D4FD-448C-8DE3-E6DD2C9347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bold.fntdata"/><Relationship Id="rId20" Type="http://schemas.openxmlformats.org/officeDocument/2006/relationships/slide" Target="slides/slide13.xml"/><Relationship Id="rId42" Type="http://schemas.openxmlformats.org/officeDocument/2006/relationships/font" Target="fonts/AlbertSans-bold.fntdata"/><Relationship Id="rId41" Type="http://schemas.openxmlformats.org/officeDocument/2006/relationships/font" Target="fonts/AlbertSans-regular.fntdata"/><Relationship Id="rId22" Type="http://schemas.openxmlformats.org/officeDocument/2006/relationships/slide" Target="slides/slide15.xml"/><Relationship Id="rId44" Type="http://schemas.openxmlformats.org/officeDocument/2006/relationships/font" Target="fonts/AlbertSans-boldItalic.fntdata"/><Relationship Id="rId21" Type="http://schemas.openxmlformats.org/officeDocument/2006/relationships/slide" Target="slides/slide14.xml"/><Relationship Id="rId43" Type="http://schemas.openxmlformats.org/officeDocument/2006/relationships/font" Target="fonts/Albert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italic.fntdata"/><Relationship Id="rId12" Type="http://schemas.openxmlformats.org/officeDocument/2006/relationships/slide" Target="slides/slide5.xml"/><Relationship Id="rId34" Type="http://schemas.openxmlformats.org/officeDocument/2006/relationships/font" Target="fonts/Roboto-bold.fntdata"/><Relationship Id="rId15" Type="http://schemas.openxmlformats.org/officeDocument/2006/relationships/slide" Target="slides/slide8.xml"/><Relationship Id="rId37" Type="http://schemas.openxmlformats.org/officeDocument/2006/relationships/font" Target="fonts/ArefRuqaa-regular.fntdata"/><Relationship Id="rId14" Type="http://schemas.openxmlformats.org/officeDocument/2006/relationships/slide" Target="slides/slide7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0.xml"/><Relationship Id="rId39" Type="http://schemas.openxmlformats.org/officeDocument/2006/relationships/font" Target="fonts/NotoSansSymbols-regular.fntdata"/><Relationship Id="rId16" Type="http://schemas.openxmlformats.org/officeDocument/2006/relationships/slide" Target="slides/slide9.xml"/><Relationship Id="rId38" Type="http://schemas.openxmlformats.org/officeDocument/2006/relationships/font" Target="fonts/ArefRuqaa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beb3c02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dbeb3c028_2_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beb3c028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dbeb3c028_2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beb3c028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dbeb3c028_2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dbeb3c02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dbeb3c028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beb3c02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dbeb3c028_2_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beb3c02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dbeb3c028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beb3c028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dbeb3c028_2_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beb3c0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HSV </a:t>
            </a:r>
            <a:r>
              <a:rPr lang="en-GB"/>
              <a:t>describes</a:t>
            </a:r>
            <a:r>
              <a:rPr lang="en-GB"/>
              <a:t> any colour using 3 values: Hue, Saturation and Value.</a:t>
            </a:r>
            <a:br>
              <a:rPr lang="en-GB"/>
            </a:br>
            <a:r>
              <a:rPr b="1" lang="en-GB"/>
              <a:t>Hue</a:t>
            </a:r>
            <a:r>
              <a:rPr lang="en-GB"/>
              <a:t> is the angle </a:t>
            </a:r>
            <a:r>
              <a:rPr lang="en-GB"/>
              <a:t>around</a:t>
            </a:r>
            <a:r>
              <a:rPr lang="en-GB"/>
              <a:t> the colour wheel - it answers ‘what colour is this?’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Saturation</a:t>
            </a:r>
            <a:r>
              <a:rPr lang="en-GB"/>
              <a:t> controls how </a:t>
            </a:r>
            <a:r>
              <a:rPr lang="en-GB"/>
              <a:t>vivid</a:t>
            </a:r>
            <a:r>
              <a:rPr lang="en-GB"/>
              <a:t> versus washed-out the colour is. 1 is a pure, vivid colour while 0 means you’ve drained all the colour out (grey)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Value</a:t>
            </a:r>
            <a:r>
              <a:rPr lang="en-GB"/>
              <a:t> controls brightness. 1 is max brightness while 0 is pure black regardless of the other two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space was invented to allow artists struggling with RGB to have a space that</a:t>
            </a:r>
            <a:r>
              <a:rPr b="1" lang="en-GB"/>
              <a:t> </a:t>
            </a:r>
            <a:r>
              <a:rPr b="1" lang="en-GB"/>
              <a:t>mimicked</a:t>
            </a:r>
            <a:r>
              <a:rPr b="1" lang="en-GB"/>
              <a:t> painting in real life</a:t>
            </a:r>
            <a:r>
              <a:rPr lang="en-GB"/>
              <a:t> with real paints.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pictures on the right show the </a:t>
            </a:r>
            <a:r>
              <a:rPr b="1" lang="en-GB"/>
              <a:t>geometric representation</a:t>
            </a:r>
            <a:r>
              <a:rPr lang="en-GB"/>
              <a:t> of the space. Hue = the angle around the colour wheel. Value = vertical axis. Saturation = distance </a:t>
            </a:r>
            <a:r>
              <a:rPr lang="en-GB"/>
              <a:t>from the central axis.</a:t>
            </a:r>
            <a:r>
              <a:rPr lang="en-GB"/>
              <a:t>A cone is sometimes used because it is a more accurate representation since at V=0 all colours collapse to a single point. However the cylinder is standard for its computational simplicity. (used in OpenCV)</a:t>
            </a:r>
            <a:endParaRPr/>
          </a:p>
        </p:txBody>
      </p:sp>
      <p:sp>
        <p:nvSpPr>
          <p:cNvPr id="137" name="Google Shape;137;g3ddbeb3c02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beb3c02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where HSV earns its place in computer vision.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image shows how HSV cleanly isolates the flower, while RGB fragments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Why? Because in RGB, brightness and colour are tangled together so when you threshold RGB, you’re trying to </a:t>
            </a:r>
            <a:r>
              <a:rPr lang="en-GB"/>
              <a:t>separate</a:t>
            </a:r>
            <a:r>
              <a:rPr lang="en-GB"/>
              <a:t> colours that share similar numerical ranges.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HSV, you </a:t>
            </a:r>
            <a:r>
              <a:rPr b="1" lang="en-GB"/>
              <a:t>threshold the Hue channel alone</a:t>
            </a:r>
            <a:r>
              <a:rPr lang="en-GB"/>
              <a:t> (260-340 for the tulip).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why HSV is the standard colour space for </a:t>
            </a:r>
            <a:r>
              <a:rPr b="1" lang="en-GB"/>
              <a:t>object detection by colour</a:t>
            </a:r>
            <a:r>
              <a:rPr lang="en-GB"/>
              <a:t> in computer vision — traffic light detection, fire detection, medical imaging. Anywhere you need to isolate a colour robustly under real-world lighting conditions.</a:t>
            </a:r>
            <a:endParaRPr/>
          </a:p>
        </p:txBody>
      </p:sp>
      <p:sp>
        <p:nvSpPr>
          <p:cNvPr id="145" name="Google Shape;145;g3ddbeb3c02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beb3c0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dbeb3c028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dbeb3c02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HSV is powerful but knowing when not to use it is just as important as knowing when to use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First: if you're measuring how perceptually different two colours are. The numerical distance between two points in HSV space </a:t>
            </a:r>
            <a:r>
              <a:rPr b="1" lang="en-GB"/>
              <a:t>does not correspond to how different they look to a human eye</a:t>
            </a:r>
            <a:r>
              <a:rPr lang="en-GB"/>
              <a:t>. Use LAB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Second: for compression and video transmission. HSV was </a:t>
            </a:r>
            <a:r>
              <a:rPr b="1" lang="en-GB"/>
              <a:t>never designed for chroma subsampling</a:t>
            </a:r>
            <a:r>
              <a:rPr lang="en-GB"/>
              <a:t>. This limitation led to the creation of the space YCbCr, use that.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Third: near-grey, white, or pastel objects. When saturation is very low, </a:t>
            </a:r>
            <a:r>
              <a:rPr b="1" lang="en-GB"/>
              <a:t>the hue value becomes mathematically unreliable </a:t>
            </a:r>
            <a:r>
              <a:rPr lang="en-GB"/>
              <a:t>(you're essentially dividing by a very small number and the hue assigned to a near-grey pixel is noisy). OpenCV's fix for this is to always pair your hue threshold with a minimum saturation of around 30, to exclude those unreliable pixels.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to summarise HSV in one sentence: use it when you want to detect a specific colour under moderate lighting changes, and switch to something else when lighting gets extreme or you need perceptual accuracy.</a:t>
            </a:r>
            <a:endParaRPr/>
          </a:p>
        </p:txBody>
      </p:sp>
      <p:sp>
        <p:nvSpPr>
          <p:cNvPr id="165" name="Google Shape;165;g3ddbeb3c028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beb3c02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dbeb3c02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dbeb3c02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-&gt; brightness / darkness of the 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Cb -&gt; the diff. between the blue component and brightness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 -&gt; the diff. between the red component and brightness</a:t>
            </a:r>
            <a:endParaRPr/>
          </a:p>
        </p:txBody>
      </p:sp>
      <p:sp>
        <p:nvSpPr>
          <p:cNvPr id="179" name="Google Shape;179;g3ddbeb3c028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dbeb3c0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dbeb3c02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dbeb3c0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dbeb3c02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ac868c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7ac868c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dbeb3c02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dbeb3c028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beb3c02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dbeb3c028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beb3c02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dbeb3c028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beb3c028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dbeb3c028_2_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8c962e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28c962e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dbeb3c0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dbeb3c02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0e7521c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0e7521cd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dbeb3c028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dbeb3c028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dbeb3c02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dbeb3c02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hyperlink" Target="http://bit.ly/2Tynxth" TargetMode="External"/><Relationship Id="rId8" Type="http://schemas.openxmlformats.org/officeDocument/2006/relationships/hyperlink" Target="http://bit.ly/2TyoMs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>
            <p:ph type="title"/>
          </p:nvPr>
        </p:nvSpPr>
        <p:spPr>
          <a:xfrm>
            <a:off x="867240" y="1014840"/>
            <a:ext cx="6768720" cy="20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 amt="70000"/>
          </a:blip>
          <a:srcRect b="1970" l="0" r="0" t="-1970"/>
          <a:stretch/>
        </p:blipFill>
        <p:spPr>
          <a:xfrm>
            <a:off x="-587880" y="3822840"/>
            <a:ext cx="2858400" cy="28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782920" y="3350160"/>
            <a:ext cx="668880" cy="6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 rot="4907400">
            <a:off x="-1830240" y="-1036800"/>
            <a:ext cx="3428640" cy="342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093520" y="-22608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5369400" y="3944520"/>
            <a:ext cx="2428920" cy="242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_1_1_1" type="blank">
  <p:cSld name="BLANK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type="title"/>
          </p:nvPr>
        </p:nvSpPr>
        <p:spPr>
          <a:xfrm>
            <a:off x="1116720" y="1046880"/>
            <a:ext cx="609300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4907400">
            <a:off x="-1830240" y="-1036800"/>
            <a:ext cx="3428640" cy="342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4907400">
            <a:off x="-533520" y="2057400"/>
            <a:ext cx="1062360" cy="106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973280" y="353736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912520" y="2794320"/>
            <a:ext cx="668880" cy="6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type="title"/>
          </p:nvPr>
        </p:nvSpPr>
        <p:spPr>
          <a:xfrm>
            <a:off x="720000" y="365760"/>
            <a:ext cx="7703640" cy="5482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716760" y="1132920"/>
            <a:ext cx="7703640" cy="3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10800000">
            <a:off x="-1985040" y="-848160"/>
            <a:ext cx="2804400" cy="28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306920" y="4046040"/>
            <a:ext cx="2766600" cy="300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8782920" y="3350160"/>
            <a:ext cx="668880" cy="6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>
  <p:cSld name="CUSTOM_3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type="title"/>
          </p:nvPr>
        </p:nvSpPr>
        <p:spPr>
          <a:xfrm>
            <a:off x="2098080" y="627120"/>
            <a:ext cx="4947480" cy="1092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1599840" y="104472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236880" y="3484800"/>
            <a:ext cx="668880" cy="6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-1712880" y="4181040"/>
            <a:ext cx="2766600" cy="300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5">
            <a:alphaModFix amt="70000"/>
          </a:blip>
          <a:srcRect b="1970" l="0" r="0" t="-1970"/>
          <a:stretch/>
        </p:blipFill>
        <p:spPr>
          <a:xfrm>
            <a:off x="8483040" y="144720"/>
            <a:ext cx="2858400" cy="28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 rot="4907400">
            <a:off x="7380720" y="2755800"/>
            <a:ext cx="3428640" cy="342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2097000" y="3675240"/>
            <a:ext cx="49492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7"/>
              </a:rPr>
              <a:t>Slidesgo</a:t>
            </a: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, including icons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8"/>
              </a:rPr>
              <a:t>Flaticon</a:t>
            </a: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, infographics &amp; images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9"/>
              </a:rPr>
              <a:t>Freepik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866880" y="1019160"/>
            <a:ext cx="6771960" cy="20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ef Ruqaa"/>
              <a:buNone/>
            </a:pPr>
            <a:r>
              <a:rPr b="1" lang="en-GB" sz="5000" u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Colour Spaces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107025" y="2061625"/>
            <a:ext cx="5413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bert Sans"/>
                <a:ea typeface="Albert Sans"/>
                <a:cs typeface="Albert Sans"/>
                <a:sym typeface="Albert Sans"/>
              </a:rPr>
              <a:t>RGB . HSV . YCbCR . LAB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Mia | Romey | Kyra | </a:t>
            </a:r>
            <a:r>
              <a:rPr lang="en-GB">
                <a:latin typeface="Albert Sans"/>
                <a:ea typeface="Albert Sans"/>
                <a:cs typeface="Albert Sans"/>
                <a:sym typeface="Albert Sans"/>
              </a:rPr>
              <a:t>Rebecca | Julia 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90" name="Google Shape;90;p18"/>
          <p:cNvCxnSpPr>
            <a:stCxn id="89" idx="1"/>
            <a:endCxn id="89" idx="3"/>
          </p:cNvCxnSpPr>
          <p:nvPr/>
        </p:nvCxnSpPr>
        <p:spPr>
          <a:xfrm>
            <a:off x="1107025" y="2410825"/>
            <a:ext cx="5413800" cy="0"/>
          </a:xfrm>
          <a:prstGeom prst="straightConnector1">
            <a:avLst/>
          </a:prstGeom>
          <a:noFill/>
          <a:ln cap="flat" cmpd="sng" w="19050">
            <a:solidFill>
              <a:srgbClr val="8D080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5048280" y="1016455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5048280" y="20864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7" name="Google Shape;97;p19" title="rgb_pixels.png"/>
          <p:cNvPicPr preferRelativeResize="0"/>
          <p:nvPr/>
        </p:nvPicPr>
        <p:blipFill rotWithShape="1">
          <a:blip r:embed="rId3">
            <a:alphaModFix/>
          </a:blip>
          <a:srcRect b="11186" l="0" r="0" t="11186"/>
          <a:stretch/>
        </p:blipFill>
        <p:spPr>
          <a:xfrm rot="4">
            <a:off x="0" y="1928"/>
            <a:ext cx="4476475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99400" y="476275"/>
            <a:ext cx="48810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</a:t>
            </a: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476225" y="1155525"/>
            <a:ext cx="42822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Represents colors as a combination of Red, Green and Blue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Works well in image editing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1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○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provides almost the true color of the image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04" name="Google Shape;104;p20" title="Venn_diagram_rgb.png"/>
          <p:cNvPicPr preferRelativeResize="0"/>
          <p:nvPr/>
        </p:nvPicPr>
        <p:blipFill rotWithShape="1">
          <a:blip r:embed="rId3">
            <a:alphaModFix/>
          </a:blip>
          <a:srcRect b="0" l="100" r="100" t="0"/>
          <a:stretch/>
        </p:blipFill>
        <p:spPr>
          <a:xfrm>
            <a:off x="5314425" y="974950"/>
            <a:ext cx="3265550" cy="31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952510" y="185250"/>
            <a:ext cx="6095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Applications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1114560" y="2162160"/>
            <a:ext cx="60954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952500" y="19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{272C3BB8-D4FD-448C-8DE3-E6DD2C934787}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Applications</a:t>
                      </a:r>
                      <a:endParaRPr sz="18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Alternatives</a:t>
                      </a:r>
                      <a:endParaRPr sz="18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Digital Archiving and Conservation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Web design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Professional Image Editing</a:t>
                      </a:r>
                      <a:endParaRPr sz="16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Video/streaming → YCbCr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Colour detection → HSV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Print/colour accuracy → LAB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542525" y="131625"/>
            <a:ext cx="63033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in Conversions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2" title="cs-Photoroom.png"/>
          <p:cNvPicPr preferRelativeResize="0"/>
          <p:nvPr/>
        </p:nvPicPr>
        <p:blipFill rotWithShape="1">
          <a:blip r:embed="rId3">
            <a:alphaModFix/>
          </a:blip>
          <a:srcRect b="0" l="14494" r="14494" t="0"/>
          <a:stretch/>
        </p:blipFill>
        <p:spPr>
          <a:xfrm>
            <a:off x="2349975" y="903650"/>
            <a:ext cx="4444050" cy="443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5048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5048275" y="1905125"/>
            <a:ext cx="36192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Red, Green and Blue channels are 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highly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 dependant on each other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Inefficient for data compression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○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The channels contain 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redundant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 information that wastes bandwidth </a:t>
            </a:r>
            <a:endParaRPr sz="1600">
              <a:solidFill>
                <a:srgbClr val="FF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49998" r="0" t="3363"/>
          <a:stretch/>
        </p:blipFill>
        <p:spPr>
          <a:xfrm>
            <a:off x="282088" y="2928750"/>
            <a:ext cx="4572001" cy="18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b="0" l="796" r="49755" t="3363"/>
          <a:stretch/>
        </p:blipFill>
        <p:spPr>
          <a:xfrm>
            <a:off x="307400" y="476275"/>
            <a:ext cx="4521375" cy="18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2" name="Google Shape;132;p24"/>
          <p:cNvGrpSpPr/>
          <p:nvPr/>
        </p:nvGrpSpPr>
        <p:grpSpPr>
          <a:xfrm>
            <a:off x="4026366" y="-75"/>
            <a:ext cx="4398114" cy="5143652"/>
            <a:chOff x="4815150" y="0"/>
            <a:chExt cx="4328852" cy="5062650"/>
          </a:xfrm>
        </p:grpSpPr>
        <p:pic>
          <p:nvPicPr>
            <p:cNvPr id="133" name="Google Shape;133;p24" title="Screenshot 2026-05-13 at 13.57.24.png"/>
            <p:cNvPicPr preferRelativeResize="0"/>
            <p:nvPr/>
          </p:nvPicPr>
          <p:blipFill rotWithShape="1">
            <a:blip r:embed="rId3">
              <a:alphaModFix/>
            </a:blip>
            <a:srcRect b="0" l="53142" r="0" t="24659"/>
            <a:stretch/>
          </p:blipFill>
          <p:spPr>
            <a:xfrm>
              <a:off x="4960550" y="2490900"/>
              <a:ext cx="4183450" cy="257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24" title="Screenshot 2026-05-13 at 13.57.24.png"/>
            <p:cNvPicPr preferRelativeResize="0"/>
            <p:nvPr/>
          </p:nvPicPr>
          <p:blipFill rotWithShape="1">
            <a:blip r:embed="rId3">
              <a:alphaModFix/>
            </a:blip>
            <a:srcRect b="0" l="-1742" r="51682" t="24659"/>
            <a:stretch/>
          </p:blipFill>
          <p:spPr>
            <a:xfrm>
              <a:off x="4815150" y="0"/>
              <a:ext cx="4328852" cy="24908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476275" y="476275"/>
            <a:ext cx="5280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  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476275" y="1544325"/>
            <a:ext cx="52803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3 human-intuitive axes: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Hue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(what colour),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Saturation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(how vivid), and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Value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(how bright)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Designed by Alvy Ray Smith in 1978 so artists could think "bright saturated blue" instead of hunting through RGB numbers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Changing brightness only affects V, leaving the colour itself untouched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0" l="53585" r="-2136" t="7055"/>
          <a:stretch/>
        </p:blipFill>
        <p:spPr>
          <a:xfrm>
            <a:off x="6040775" y="-1"/>
            <a:ext cx="3246050" cy="25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4">
            <a:alphaModFix/>
          </a:blip>
          <a:srcRect b="31308" l="32252" r="31135" t="13997"/>
          <a:stretch/>
        </p:blipFill>
        <p:spPr>
          <a:xfrm>
            <a:off x="6040775" y="2510175"/>
            <a:ext cx="3103227" cy="26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900750" y="672350"/>
            <a:ext cx="73425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Real World Application: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Colour Masking</a:t>
            </a:r>
            <a:r>
              <a:rPr b="1" lang="en-GB" sz="4000" u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>
            <p:ph idx="1" type="subTitle"/>
          </p:nvPr>
        </p:nvSpPr>
        <p:spPr>
          <a:xfrm>
            <a:off x="332400" y="1702850"/>
            <a:ext cx="4026000" cy="3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HSV is the standard colour space for object detection by colour in computer vision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A hue range threshold isolates a specific colour regardless of lighting. This is something RGB cannot do reliably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Used in traffic light detection, fire detection, and medical imaging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49" name="Google Shape;149;p26"/>
          <p:cNvGrpSpPr/>
          <p:nvPr/>
        </p:nvGrpSpPr>
        <p:grpSpPr>
          <a:xfrm>
            <a:off x="4358400" y="1932148"/>
            <a:ext cx="4719367" cy="2384546"/>
            <a:chOff x="0" y="3473650"/>
            <a:chExt cx="3304879" cy="1669850"/>
          </a:xfrm>
        </p:grpSpPr>
        <p:pic>
          <p:nvPicPr>
            <p:cNvPr id="150" name="Google Shape;150;p26"/>
            <p:cNvPicPr preferRelativeResize="0"/>
            <p:nvPr/>
          </p:nvPicPr>
          <p:blipFill rotWithShape="1">
            <a:blip r:embed="rId3">
              <a:alphaModFix/>
            </a:blip>
            <a:srcRect b="0" l="0" r="88005" t="0"/>
            <a:stretch/>
          </p:blipFill>
          <p:spPr>
            <a:xfrm>
              <a:off x="0" y="3473650"/>
              <a:ext cx="1096827" cy="166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6"/>
            <p:cNvPicPr preferRelativeResize="0"/>
            <p:nvPr/>
          </p:nvPicPr>
          <p:blipFill rotWithShape="1">
            <a:blip r:embed="rId3">
              <a:alphaModFix/>
            </a:blip>
            <a:srcRect b="0" l="43384" r="43674" t="0"/>
            <a:stretch/>
          </p:blipFill>
          <p:spPr>
            <a:xfrm>
              <a:off x="1024651" y="3473650"/>
              <a:ext cx="1183401" cy="166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6"/>
            <p:cNvPicPr preferRelativeResize="0"/>
            <p:nvPr/>
          </p:nvPicPr>
          <p:blipFill rotWithShape="1">
            <a:blip r:embed="rId3">
              <a:alphaModFix/>
            </a:blip>
            <a:srcRect b="0" l="88005" r="0" t="0"/>
            <a:stretch/>
          </p:blipFill>
          <p:spPr>
            <a:xfrm>
              <a:off x="2208052" y="3473650"/>
              <a:ext cx="1096827" cy="1669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26"/>
          <p:cNvSpPr txBox="1"/>
          <p:nvPr/>
        </p:nvSpPr>
        <p:spPr>
          <a:xfrm>
            <a:off x="4572000" y="4231825"/>
            <a:ext cx="437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Albert Sans"/>
                <a:ea typeface="Albert Sans"/>
                <a:cs typeface="Albert Sans"/>
                <a:sym typeface="Albert Sans"/>
              </a:rPr>
              <a:t>Same tulip, same threshold. HSV isolates cleanly, RGB fragments under shadow.</a:t>
            </a:r>
            <a:endParaRPr i="1" sz="9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662700" y="196200"/>
            <a:ext cx="7818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→ HSV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548700" y="1386300"/>
            <a:ext cx="40233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1: Normalise R, G, B to [0, 1]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2: V = max(R, G, B)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3: S = δ / V 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where δ = max − min (S = 0 if V = 0)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4: H = 60° × formula based on which channel is dominant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Refer to the worked out example: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60" name="Google Shape;160;p27"/>
          <p:cNvGrpSpPr/>
          <p:nvPr/>
        </p:nvGrpSpPr>
        <p:grpSpPr>
          <a:xfrm>
            <a:off x="4089477" y="1644754"/>
            <a:ext cx="4969655" cy="3398372"/>
            <a:chOff x="4460725" y="1112825"/>
            <a:chExt cx="4413548" cy="3017825"/>
          </a:xfrm>
        </p:grpSpPr>
        <p:pic>
          <p:nvPicPr>
            <p:cNvPr id="161" name="Google Shape;161;p27" title="Screenshot 2026-05-13 at 13.34.57.png"/>
            <p:cNvPicPr preferRelativeResize="0"/>
            <p:nvPr/>
          </p:nvPicPr>
          <p:blipFill rotWithShape="1">
            <a:blip r:embed="rId3">
              <a:alphaModFix/>
            </a:blip>
            <a:srcRect b="8004" l="3462" r="3462" t="33314"/>
            <a:stretch/>
          </p:blipFill>
          <p:spPr>
            <a:xfrm>
              <a:off x="4460725" y="2420125"/>
              <a:ext cx="4413548" cy="171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7"/>
            <p:cNvPicPr preferRelativeResize="0"/>
            <p:nvPr/>
          </p:nvPicPr>
          <p:blipFill rotWithShape="1">
            <a:blip r:embed="rId4">
              <a:alphaModFix/>
            </a:blip>
            <a:srcRect b="38296" l="3462" r="3462" t="16688"/>
            <a:stretch/>
          </p:blipFill>
          <p:spPr>
            <a:xfrm>
              <a:off x="4460725" y="1112825"/>
              <a:ext cx="4413548" cy="13122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952494" y="315950"/>
            <a:ext cx="76206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1046869" y="1905125"/>
            <a:ext cx="76206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169" name="Google Shape;169;p28"/>
          <p:cNvGraphicFramePr/>
          <p:nvPr/>
        </p:nvGraphicFramePr>
        <p:xfrm>
          <a:off x="952500" y="142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{272C3BB8-D4FD-448C-8DE3-E6DD2C934787}</a:tableStyleId>
              </a:tblPr>
              <a:tblGrid>
                <a:gridCol w="2413000"/>
                <a:gridCol w="2818500"/>
                <a:gridCol w="2007500"/>
              </a:tblGrid>
              <a:tr h="58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Situation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Problem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Use instead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Measuring how different two colours look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HSV distance ≠ perceptual difference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LAB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Compression and video transmission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HSV not designed for subsampling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YCbCr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Objects that are grey, white, or pastel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Hue is unreliable at low saturation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OpenCV fix - S min threshold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/>
          <p:nvPr/>
        </p:nvSpPr>
        <p:spPr>
          <a:xfrm>
            <a:off x="5028155" y="12155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5028155" y="2120915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YCbCr</a:t>
            </a: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88" y="0"/>
            <a:ext cx="31746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952798" y="446200"/>
            <a:ext cx="4909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YCbCr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476275" y="1710300"/>
            <a:ext cx="3619200" cy="27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Colour space used in digital image and video compression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Separates luminance (Y′) from chrominance (Cb, Cr)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Y′ stores image detail, Cb and Cr store colour information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Enables efficient compression with minimal visible quality loss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51" y="836888"/>
            <a:ext cx="3469725" cy="34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1017400" y="375975"/>
            <a:ext cx="7744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9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↔ YCbCr Conversion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1"/>
          <p:cNvSpPr txBox="1"/>
          <p:nvPr>
            <p:ph idx="1" type="subTitle"/>
          </p:nvPr>
        </p:nvSpPr>
        <p:spPr>
          <a:xfrm>
            <a:off x="606900" y="1248525"/>
            <a:ext cx="81552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Images are usually stored in RGB and then converted to YCbCr before compression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Conversion </a:t>
            </a: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separates</a:t>
            </a: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luminance (Y) from  chrominance (Cb, Cr)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Based on weighted combinations of RGB  values (BT.601 standard)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Y = 0.299R + 0.587G + 0.114B + 16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Cb = -0.1687R - 0.3313G + 0.500B + 128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Cr = 0.500R - 0.4187G - 0.0813B + 128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Enables efficient chroma subsampling and compression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525" y="2792651"/>
            <a:ext cx="2867225" cy="14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79475" y="120175"/>
            <a:ext cx="66030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9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Chroma Subsampling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196" name="Google Shape;196;p32"/>
          <p:cNvSpPr txBox="1"/>
          <p:nvPr>
            <p:ph idx="1" type="subTitle"/>
          </p:nvPr>
        </p:nvSpPr>
        <p:spPr>
          <a:xfrm>
            <a:off x="633275" y="778850"/>
            <a:ext cx="60954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25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Reduces colour resolution to save </a:t>
            </a: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storage and bandwidth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25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Human vision is less sensitive to colour details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than brightness detail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25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Formats: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4:4:4 - No subsampling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4:2:2 - Half horizontal colour resolution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4:2:0 - Half horizontal and vertical colour resolution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 rotWithShape="1">
          <a:blip r:embed="rId3">
            <a:alphaModFix/>
          </a:blip>
          <a:srcRect b="24409" l="0" r="0" t="0"/>
          <a:stretch/>
        </p:blipFill>
        <p:spPr>
          <a:xfrm>
            <a:off x="5882075" y="1736975"/>
            <a:ext cx="2766224" cy="13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6763" y="3495296"/>
            <a:ext cx="4970476" cy="1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716750" y="408974"/>
            <a:ext cx="77037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Skin Detection </a:t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Skin tones cluster in a narrow range of Cb and Cr values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Y (brightness) is ignored → reduces lighting effects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Enables simple threshold-based segmentation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Works across different skin tones and lighting conditions</a:t>
            </a:r>
            <a:endParaRPr b="1" sz="27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53" y="2825150"/>
            <a:ext cx="7624098" cy="2043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/>
          <p:nvPr/>
        </p:nvSpPr>
        <p:spPr>
          <a:xfrm>
            <a:off x="879825" y="182100"/>
            <a:ext cx="68730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0" name="Google Shape;210;p34"/>
          <p:cNvSpPr/>
          <p:nvPr/>
        </p:nvSpPr>
        <p:spPr>
          <a:xfrm>
            <a:off x="3293450" y="1228225"/>
            <a:ext cx="5143500" cy="3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Chroma subsampling may cause colour bleeding and compression artifacts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Fine details such as text and UI elements can appear blurred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Not ideal for professional graphics or colour-critical editing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RGB is preferred for colour-critical applications 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Excessive compression reduces image quality visibly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11" name="Google Shape;211;p34" title="output.png"/>
          <p:cNvPicPr preferRelativeResize="0"/>
          <p:nvPr/>
        </p:nvPicPr>
        <p:blipFill rotWithShape="1">
          <a:blip r:embed="rId3">
            <a:alphaModFix/>
          </a:blip>
          <a:srcRect b="0" l="50000" r="25052" t="0"/>
          <a:stretch/>
        </p:blipFill>
        <p:spPr>
          <a:xfrm>
            <a:off x="1106200" y="1228225"/>
            <a:ext cx="1884550" cy="15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4" title="output.png"/>
          <p:cNvPicPr preferRelativeResize="0"/>
          <p:nvPr/>
        </p:nvPicPr>
        <p:blipFill rotWithShape="1">
          <a:blip r:embed="rId3">
            <a:alphaModFix/>
          </a:blip>
          <a:srcRect b="0" l="74845" r="0" t="0"/>
          <a:stretch/>
        </p:blipFill>
        <p:spPr>
          <a:xfrm>
            <a:off x="1106200" y="2950475"/>
            <a:ext cx="1884550" cy="153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/>
          <p:nvPr/>
        </p:nvSpPr>
        <p:spPr>
          <a:xfrm>
            <a:off x="476280" y="4762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8" name="Google Shape;218;p35"/>
          <p:cNvSpPr/>
          <p:nvPr/>
        </p:nvSpPr>
        <p:spPr>
          <a:xfrm>
            <a:off x="476280" y="14288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LAB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450" y="476275"/>
            <a:ext cx="5777925" cy="43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/>
          <p:nvPr/>
        </p:nvSpPr>
        <p:spPr>
          <a:xfrm>
            <a:off x="476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LAB</a:t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fundamentals</a:t>
            </a:r>
            <a:endParaRPr b="0" i="0" sz="3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476280" y="1905120"/>
            <a:ext cx="3619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We have 3 LAB axes: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L* - lightness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a*- green-red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b*- blue-yellow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Designed to model human colour perception,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separated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brightness from colour information.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The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separation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makes LAB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useful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in image processing because lighting and colour can be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analyzed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independently 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125" y="476275"/>
            <a:ext cx="3619200" cy="3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479575" y="253850"/>
            <a:ext cx="8271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ΔE* - Measuring Colour Difference in LAB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232" name="Google Shape;232;p37"/>
          <p:cNvSpPr txBox="1"/>
          <p:nvPr>
            <p:ph idx="1" type="subTitle"/>
          </p:nvPr>
        </p:nvSpPr>
        <p:spPr>
          <a:xfrm>
            <a:off x="4906700" y="1254175"/>
            <a:ext cx="3844200" cy="3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5043"/>
              <a:t>ΔE* = √[(ΔL*)² + (Δa*)² + (Δb*)²]</a:t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Perceptually uniform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○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ΔE* = 1 - approx the smallest difference eyes can detect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ΔE = 0 Colours are identical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Small ΔE Colours are very similar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○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Large ΔE Colours are noticeably different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&lt; 1 Not visible to the human eye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1 – 2 Only noticeable by a trained expert 2 – 3.5 Acceptable in most industries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&gt; 5 Obvious mismatch (rejected)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0191"/>
              <a:buFont typeface="Arial"/>
              <a:buNone/>
            </a:pPr>
            <a:r>
              <a:t/>
            </a:r>
            <a:endParaRPr sz="1828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lbert Sans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33" name="Google Shape;233;p37" title="Screenshot 2026-05-13 202848.png"/>
          <p:cNvPicPr preferRelativeResize="0"/>
          <p:nvPr/>
        </p:nvPicPr>
        <p:blipFill rotWithShape="1">
          <a:blip r:embed="rId3">
            <a:alphaModFix/>
          </a:blip>
          <a:srcRect b="0" l="1565" r="0" t="0"/>
          <a:stretch/>
        </p:blipFill>
        <p:spPr>
          <a:xfrm>
            <a:off x="817925" y="1590075"/>
            <a:ext cx="3451224" cy="32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898700" y="492775"/>
            <a:ext cx="71274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845100" y="1325150"/>
            <a:ext cx="8298900" cy="19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Not perfectly perceptually uniform, highly saturated colours can still produce inaccurate ΔE* values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Depends on accurate RGB calibration- poor lighting or camera calibration makes LAB values unreliable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Computationally expensive, the 5-step pipeline is significantly slower than working directly in RGB or HSV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- Noise amplification ,dark regions bec</a:t>
            </a:r>
            <a:r>
              <a:rPr lang="en-GB" sz="1181"/>
              <a:t>ome noisier after conversion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- Hue instability near neutral when a* and b* are close to 0, small rounding errors cause large hue shifts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These limitations led to improved formulas -CIE94 and CIEDE2000, developed to better model human perception</a:t>
            </a:r>
            <a:endParaRPr sz="1181"/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081"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188" y="3498525"/>
            <a:ext cx="5584424" cy="15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3020350" y="281625"/>
            <a:ext cx="59652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→ LAB conversion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3948050" y="1471725"/>
            <a:ext cx="5037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Albert San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RGB must be converted in two stages - first to XYZ, then to LAB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Albert San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XYZ acts as a neutral middle ground that any colour system can connect to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Noto Sans Symbol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 Step Pipeline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Albert San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LAB is the destination - equal steps in LAB look equally different to the human eye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47" name="Google Shape;247;p39" title="Normalise-Photoroom.png"/>
          <p:cNvPicPr preferRelativeResize="0"/>
          <p:nvPr/>
        </p:nvPicPr>
        <p:blipFill rotWithShape="1">
          <a:blip r:embed="rId3">
            <a:alphaModFix/>
          </a:blip>
          <a:srcRect b="-2821" l="6503" r="10440" t="-2821"/>
          <a:stretch/>
        </p:blipFill>
        <p:spPr>
          <a:xfrm>
            <a:off x="-199623" y="88"/>
            <a:ext cx="5700551" cy="51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1114550" y="392225"/>
            <a:ext cx="77655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Case: Skipping Linearisation for LAB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0"/>
          <p:cNvSpPr txBox="1"/>
          <p:nvPr>
            <p:ph idx="1" type="subTitle"/>
          </p:nvPr>
        </p:nvSpPr>
        <p:spPr>
          <a:xfrm>
            <a:off x="1114560" y="2162160"/>
            <a:ext cx="60954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54" name="Google Shape;254;p40" title="oupu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2154"/>
            <a:ext cx="9144001" cy="250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1114497" y="213925"/>
            <a:ext cx="6095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Conversion Limitations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1"/>
          <p:cNvSpPr txBox="1"/>
          <p:nvPr>
            <p:ph idx="1" type="subTitle"/>
          </p:nvPr>
        </p:nvSpPr>
        <p:spPr>
          <a:xfrm>
            <a:off x="1114550" y="2517727"/>
            <a:ext cx="60954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When speed is critical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Working within entirely one space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When OpenCV already handles it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61" name="Google Shape;261;p41" title="OpenCV_Logo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850" y="179055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-945160" y="5473090"/>
            <a:ext cx="6768600" cy="20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1334700" y="1550850"/>
            <a:ext cx="6474600" cy="18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51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Thank you for your attention !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Watercolor Stains Theme by Slidesgo">
  <a:themeElements>
    <a:clrScheme name="Simple Light">
      <a:dk1>
        <a:srgbClr val="8D0808"/>
      </a:dk1>
      <a:lt1>
        <a:srgbClr val="FFFFFF"/>
      </a:lt1>
      <a:dk2>
        <a:srgbClr val="000000"/>
      </a:dk2>
      <a:lt2>
        <a:srgbClr val="164799"/>
      </a:lt2>
      <a:accent1>
        <a:srgbClr val="5ECE3D"/>
      </a:accent1>
      <a:accent2>
        <a:srgbClr val="F0F0F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