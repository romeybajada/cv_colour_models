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  <p:sldMasterId id="2147483664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Aref Ruqaa"/>
      <p:regular r:id="rId37"/>
      <p:bold r:id="rId38"/>
    </p:embeddedFont>
    <p:embeddedFont>
      <p:font typeface="Noto Sans Symbols"/>
      <p:regular r:id="rId39"/>
      <p:bold r:id="rId40"/>
    </p:embeddedFont>
    <p:embeddedFont>
      <p:font typeface="Albert Sans"/>
      <p:regular r:id="rId41"/>
      <p:bold r:id="rId42"/>
      <p:italic r:id="rId43"/>
      <p:boldItalic r:id="rId4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5E1E4E-BB0E-43A8-982B-7041CF8E5D1C}">
  <a:tblStyle styleId="{135E1E4E-BB0E-43A8-982B-7041CF8E5D1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NotoSansSymbols-bold.fntdata"/><Relationship Id="rId20" Type="http://schemas.openxmlformats.org/officeDocument/2006/relationships/slide" Target="slides/slide13.xml"/><Relationship Id="rId42" Type="http://schemas.openxmlformats.org/officeDocument/2006/relationships/font" Target="fonts/AlbertSans-bold.fntdata"/><Relationship Id="rId41" Type="http://schemas.openxmlformats.org/officeDocument/2006/relationships/font" Target="fonts/AlbertSans-regular.fntdata"/><Relationship Id="rId22" Type="http://schemas.openxmlformats.org/officeDocument/2006/relationships/slide" Target="slides/slide15.xml"/><Relationship Id="rId44" Type="http://schemas.openxmlformats.org/officeDocument/2006/relationships/font" Target="fonts/AlbertSans-boldItalic.fntdata"/><Relationship Id="rId21" Type="http://schemas.openxmlformats.org/officeDocument/2006/relationships/slide" Target="slides/slide14.xml"/><Relationship Id="rId43" Type="http://schemas.openxmlformats.org/officeDocument/2006/relationships/font" Target="fonts/AlbertSans-italic.fntdata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font" Target="fonts/Roboto-regular.fntdata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font" Target="fonts/Roboto-italic.fntdata"/><Relationship Id="rId12" Type="http://schemas.openxmlformats.org/officeDocument/2006/relationships/slide" Target="slides/slide5.xml"/><Relationship Id="rId34" Type="http://schemas.openxmlformats.org/officeDocument/2006/relationships/font" Target="fonts/Roboto-bold.fntdata"/><Relationship Id="rId15" Type="http://schemas.openxmlformats.org/officeDocument/2006/relationships/slide" Target="slides/slide8.xml"/><Relationship Id="rId37" Type="http://schemas.openxmlformats.org/officeDocument/2006/relationships/font" Target="fonts/ArefRuqaa-regular.fntdata"/><Relationship Id="rId14" Type="http://schemas.openxmlformats.org/officeDocument/2006/relationships/slide" Target="slides/slide7.xml"/><Relationship Id="rId36" Type="http://schemas.openxmlformats.org/officeDocument/2006/relationships/font" Target="fonts/Roboto-boldItalic.fntdata"/><Relationship Id="rId17" Type="http://schemas.openxmlformats.org/officeDocument/2006/relationships/slide" Target="slides/slide10.xml"/><Relationship Id="rId39" Type="http://schemas.openxmlformats.org/officeDocument/2006/relationships/font" Target="fonts/NotoSansSymbols-regular.fntdata"/><Relationship Id="rId16" Type="http://schemas.openxmlformats.org/officeDocument/2006/relationships/slide" Target="slides/slide9.xml"/><Relationship Id="rId38" Type="http://schemas.openxmlformats.org/officeDocument/2006/relationships/font" Target="fonts/ArefRuqaa-bold.fntdata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ddbeb3c028_2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Colour space</a:t>
            </a:r>
            <a:r>
              <a:rPr lang="en-GB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 A mathematical model that represents colours as coordinates in a defined system </a:t>
            </a:r>
            <a:endParaRPr/>
          </a:p>
        </p:txBody>
      </p:sp>
      <p:sp>
        <p:nvSpPr>
          <p:cNvPr id="86" name="Google Shape;86;g3ddbeb3c028_2_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ddbeb3c028_2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g3ddbeb3c028_2_4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dbeb3c028_2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g3ddbeb3c028_2_5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dbeb3c028_0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g3ddbeb3c028_0_1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ddbeb3c028_2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g3ddbeb3c028_2_5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dbeb3c028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g3ddbeb3c028_0_10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dbeb3c028_2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g3ddbeb3c028_2_6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ddbeb3c028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HSV </a:t>
            </a:r>
            <a:r>
              <a:rPr lang="en-GB"/>
              <a:t>describes</a:t>
            </a:r>
            <a:r>
              <a:rPr lang="en-GB"/>
              <a:t> any colour using 3 values: Hue, Saturation and Value.</a:t>
            </a:r>
            <a:br>
              <a:rPr lang="en-GB"/>
            </a:br>
            <a:r>
              <a:rPr b="1" lang="en-GB"/>
              <a:t>Hue</a:t>
            </a:r>
            <a:r>
              <a:rPr lang="en-GB"/>
              <a:t> is the angle </a:t>
            </a:r>
            <a:r>
              <a:rPr lang="en-GB"/>
              <a:t>around</a:t>
            </a:r>
            <a:r>
              <a:rPr lang="en-GB"/>
              <a:t> the colour wheel - it answers ‘what colour is this?’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/>
              <a:t>Saturation</a:t>
            </a:r>
            <a:r>
              <a:rPr lang="en-GB"/>
              <a:t> controls how </a:t>
            </a:r>
            <a:r>
              <a:rPr lang="en-GB"/>
              <a:t>vivid</a:t>
            </a:r>
            <a:r>
              <a:rPr lang="en-GB"/>
              <a:t> versus washed-out the colour is. 1 is a pure, vivid colour while 0 means you’ve drained all the colour out (grey)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/>
              <a:t>Value</a:t>
            </a:r>
            <a:r>
              <a:rPr lang="en-GB"/>
              <a:t> controls brightness. 1 is max brightness while 0 is pure black regardless of the other two values.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This space was invented to allow artists struggling with RGB to have a space that</a:t>
            </a:r>
            <a:r>
              <a:rPr b="1" lang="en-GB"/>
              <a:t> </a:t>
            </a:r>
            <a:r>
              <a:rPr b="1" lang="en-GB"/>
              <a:t>mimicked</a:t>
            </a:r>
            <a:r>
              <a:rPr b="1" lang="en-GB"/>
              <a:t> painting in real life</a:t>
            </a:r>
            <a:r>
              <a:rPr lang="en-GB"/>
              <a:t> with real paints.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pictures on the right show the </a:t>
            </a:r>
            <a:r>
              <a:rPr b="1" lang="en-GB"/>
              <a:t>geometric representation</a:t>
            </a:r>
            <a:r>
              <a:rPr lang="en-GB"/>
              <a:t> of the space. Hue = the angle around the colour wheel. Value = vertical axis. Saturation = distance </a:t>
            </a:r>
            <a:r>
              <a:rPr lang="en-GB"/>
              <a:t>from the central axis.</a:t>
            </a:r>
            <a:r>
              <a:rPr lang="en-GB"/>
              <a:t>A cone is sometimes used because it is a more accurate representation since at V=0 all colours collapse to a single point. However the cylinder is standard for its computational simplicity. (used in OpenCV)</a:t>
            </a:r>
            <a:endParaRPr/>
          </a:p>
        </p:txBody>
      </p:sp>
      <p:sp>
        <p:nvSpPr>
          <p:cNvPr id="137" name="Google Shape;137;g3ddbeb3c028_0_2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dbeb3c028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This is where HSV earns its place in computer vision.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image shows how HSV cleanly isolates the flower, while RGB fragments it.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Why? Because in RGB, brightness and colour are tangled together so when you threshold RGB, you’re trying to </a:t>
            </a:r>
            <a:r>
              <a:rPr lang="en-GB"/>
              <a:t>separate</a:t>
            </a:r>
            <a:r>
              <a:rPr lang="en-GB"/>
              <a:t> colours that share similar numerical ranges.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 HSV, you </a:t>
            </a:r>
            <a:r>
              <a:rPr b="1" lang="en-GB"/>
              <a:t>threshold the Hue channel alone</a:t>
            </a:r>
            <a:r>
              <a:rPr lang="en-GB"/>
              <a:t> (260-340 for the tulip).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This is why HSV is the standard colour space for </a:t>
            </a:r>
            <a:r>
              <a:rPr b="1" lang="en-GB"/>
              <a:t>object detection by colour</a:t>
            </a:r>
            <a:r>
              <a:rPr lang="en-GB"/>
              <a:t> in computer vision — traffic light detection, fire detection, medical imaging. Anywhere you need to isolate a colour robustly under real-world lighting conditions.</a:t>
            </a:r>
            <a:endParaRPr/>
          </a:p>
        </p:txBody>
      </p:sp>
      <p:sp>
        <p:nvSpPr>
          <p:cNvPr id="145" name="Google Shape;145;g3ddbeb3c028_0_2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dbeb3c028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g3ddbeb3c028_0_9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ddbeb3c028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HSV is powerful but knowing when not to use it is just as important as knowing when to use it.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First: if you're measuring how perceptually different two colours are. The numerical distance between two points in HSV space </a:t>
            </a:r>
            <a:r>
              <a:rPr b="1" lang="en-GB"/>
              <a:t>does not correspond to how different they look to a human eye</a:t>
            </a:r>
            <a:r>
              <a:rPr lang="en-GB"/>
              <a:t>. Use LAB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Second: for compression and video transmission. HSV was </a:t>
            </a:r>
            <a:r>
              <a:rPr b="1" lang="en-GB"/>
              <a:t>never designed for chroma subsampling</a:t>
            </a:r>
            <a:r>
              <a:rPr lang="en-GB"/>
              <a:t>. This limitation led to the creation of the space YCbCr, use that.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Third: near-grey, white, or pastel objects. When saturation is very low, </a:t>
            </a:r>
            <a:r>
              <a:rPr b="1" lang="en-GB"/>
              <a:t>the hue value becomes mathematically unreliable </a:t>
            </a:r>
            <a:r>
              <a:rPr lang="en-GB"/>
              <a:t>(you're essentially dividing by a very small number and the hue assigned to a near-grey pixel is noisy). OpenCV's fix for this is to always pair your hue threshold with a minimum saturation of around 30, to exclude those unreliable pixels.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 to summarise HSV in one sentence: use it when you want to detect a specific colour under moderate lighting changes, and switch to something else when lighting gets extreme or you need perceptual accuracy.</a:t>
            </a:r>
            <a:endParaRPr/>
          </a:p>
        </p:txBody>
      </p:sp>
      <p:sp>
        <p:nvSpPr>
          <p:cNvPr id="165" name="Google Shape;165;g3ddbeb3c028_0_10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dbeb3c028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g3ddbeb3c028_3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ddbeb3c028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Y -&gt; brightness / darkness of the image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Cb -&gt; the diff. between the blue component and brightness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 -&gt; the diff. between the red component and brightness</a:t>
            </a:r>
            <a:endParaRPr/>
          </a:p>
        </p:txBody>
      </p:sp>
      <p:sp>
        <p:nvSpPr>
          <p:cNvPr id="179" name="Google Shape;179;g3ddbeb3c028_0_3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ddbeb3c028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g3ddbeb3c028_0_4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ddbeb3c028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g3ddbeb3c028_0_8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f7ac868cb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f7ac868cb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ddbeb3c028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g3ddbeb3c028_0_9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ddbeb3c028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g3ddbeb3c028_0_5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ddbeb3c028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g3ddbeb3c028_0_6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dbeb3c028_2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g3ddbeb3c028_2_7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e28c962ef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e28c962ef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ddbeb3c028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g3ddbeb3c028_0_6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e0e7521cd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g3e0e7521cd1_0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ddbeb3c028_2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g3ddbeb3c028_2_8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ddbeb3c028_0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ddbeb3c028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9" Type="http://schemas.openxmlformats.org/officeDocument/2006/relationships/hyperlink" Target="http://bit.ly/2TtBDfr" TargetMode="External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hyperlink" Target="http://bit.ly/2Tynxth" TargetMode="External"/><Relationship Id="rId8" Type="http://schemas.openxmlformats.org/officeDocument/2006/relationships/hyperlink" Target="http://bit.ly/2TyoMsr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14"/>
          <p:cNvPicPr preferRelativeResize="0"/>
          <p:nvPr/>
        </p:nvPicPr>
        <p:blipFill rotWithShape="1">
          <a:blip r:embed="rId2">
            <a:alphaModFix amt="21000"/>
          </a:blip>
          <a:srcRect b="0" l="0" r="0" t="0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4"/>
          <p:cNvSpPr txBox="1"/>
          <p:nvPr>
            <p:ph type="title"/>
          </p:nvPr>
        </p:nvSpPr>
        <p:spPr>
          <a:xfrm>
            <a:off x="867240" y="1014840"/>
            <a:ext cx="6768720" cy="2041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pic>
        <p:nvPicPr>
          <p:cNvPr id="54" name="Google Shape;54;p14"/>
          <p:cNvPicPr preferRelativeResize="0"/>
          <p:nvPr/>
        </p:nvPicPr>
        <p:blipFill rotWithShape="1">
          <a:blip r:embed="rId3">
            <a:alphaModFix amt="70000"/>
          </a:blip>
          <a:srcRect b="1970" l="0" r="0" t="-1970"/>
          <a:stretch/>
        </p:blipFill>
        <p:spPr>
          <a:xfrm>
            <a:off x="-587880" y="3822840"/>
            <a:ext cx="2858400" cy="285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4"/>
          <p:cNvPicPr preferRelativeResize="0"/>
          <p:nvPr/>
        </p:nvPicPr>
        <p:blipFill rotWithShape="1">
          <a:blip r:embed="rId4">
            <a:alphaModFix amt="70000"/>
          </a:blip>
          <a:srcRect b="0" l="0" r="0" t="0"/>
          <a:stretch/>
        </p:blipFill>
        <p:spPr>
          <a:xfrm>
            <a:off x="8782920" y="3350160"/>
            <a:ext cx="668880" cy="66888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4"/>
          <p:cNvPicPr preferRelativeResize="0"/>
          <p:nvPr/>
        </p:nvPicPr>
        <p:blipFill rotWithShape="1">
          <a:blip r:embed="rId5">
            <a:alphaModFix amt="70000"/>
          </a:blip>
          <a:srcRect b="0" l="0" r="0" t="0"/>
          <a:stretch/>
        </p:blipFill>
        <p:spPr>
          <a:xfrm rot="4907400">
            <a:off x="-1830240" y="-1036800"/>
            <a:ext cx="3428640" cy="342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4"/>
          <p:cNvPicPr preferRelativeResize="0"/>
          <p:nvPr/>
        </p:nvPicPr>
        <p:blipFill rotWithShape="1">
          <a:blip r:embed="rId4">
            <a:alphaModFix amt="70000"/>
          </a:blip>
          <a:srcRect b="0" l="0" r="0" t="0"/>
          <a:stretch/>
        </p:blipFill>
        <p:spPr>
          <a:xfrm>
            <a:off x="8093520" y="-226080"/>
            <a:ext cx="2428920" cy="2428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4"/>
          <p:cNvPicPr preferRelativeResize="0"/>
          <p:nvPr/>
        </p:nvPicPr>
        <p:blipFill rotWithShape="1">
          <a:blip r:embed="rId4">
            <a:alphaModFix amt="70000"/>
          </a:blip>
          <a:srcRect b="0" l="0" r="0" t="0"/>
          <a:stretch/>
        </p:blipFill>
        <p:spPr>
          <a:xfrm>
            <a:off x="5369400" y="3944520"/>
            <a:ext cx="2428920" cy="242892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4"/>
          <p:cNvSpPr txBox="1"/>
          <p:nvPr>
            <p:ph idx="1"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4_1_1_1" type="blank">
  <p:cSld name="BLANK">
    <p:bg>
      <p:bgPr>
        <a:solidFill>
          <a:schemeClr val="lt1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 rotWithShape="1">
          <a:blip r:embed="rId2">
            <a:alphaModFix amt="21000"/>
          </a:blip>
          <a:srcRect b="0" l="0" r="0" t="0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/>
          <p:nvPr>
            <p:ph type="title"/>
          </p:nvPr>
        </p:nvSpPr>
        <p:spPr>
          <a:xfrm>
            <a:off x="1116720" y="1046880"/>
            <a:ext cx="6093000" cy="118836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pic>
        <p:nvPicPr>
          <p:cNvPr id="63" name="Google Shape;63;p15"/>
          <p:cNvPicPr preferRelativeResize="0"/>
          <p:nvPr/>
        </p:nvPicPr>
        <p:blipFill rotWithShape="1">
          <a:blip r:embed="rId3">
            <a:alphaModFix amt="70000"/>
          </a:blip>
          <a:srcRect b="0" l="0" r="0" t="0"/>
          <a:stretch/>
        </p:blipFill>
        <p:spPr>
          <a:xfrm rot="4907400">
            <a:off x="-1830240" y="-1036800"/>
            <a:ext cx="3428640" cy="342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5"/>
          <p:cNvPicPr preferRelativeResize="0"/>
          <p:nvPr/>
        </p:nvPicPr>
        <p:blipFill rotWithShape="1">
          <a:blip r:embed="rId3">
            <a:alphaModFix amt="70000"/>
          </a:blip>
          <a:srcRect b="0" l="0" r="0" t="0"/>
          <a:stretch/>
        </p:blipFill>
        <p:spPr>
          <a:xfrm rot="4907400">
            <a:off x="-533520" y="2057400"/>
            <a:ext cx="1062360" cy="10623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5"/>
          <p:cNvPicPr preferRelativeResize="0"/>
          <p:nvPr/>
        </p:nvPicPr>
        <p:blipFill rotWithShape="1">
          <a:blip r:embed="rId4">
            <a:alphaModFix amt="70000"/>
          </a:blip>
          <a:srcRect b="0" l="0" r="0" t="0"/>
          <a:stretch/>
        </p:blipFill>
        <p:spPr>
          <a:xfrm>
            <a:off x="7973280" y="3537360"/>
            <a:ext cx="2428920" cy="2428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5"/>
          <p:cNvPicPr preferRelativeResize="0"/>
          <p:nvPr/>
        </p:nvPicPr>
        <p:blipFill rotWithShape="1">
          <a:blip r:embed="rId4">
            <a:alphaModFix amt="70000"/>
          </a:blip>
          <a:srcRect b="0" l="0" r="0" t="0"/>
          <a:stretch/>
        </p:blipFill>
        <p:spPr>
          <a:xfrm>
            <a:off x="8912520" y="2794320"/>
            <a:ext cx="668880" cy="6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" type="tx">
  <p:cSld name="TITLE_AND_BODY">
    <p:bg>
      <p:bgPr>
        <a:solidFill>
          <a:schemeClr val="lt1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6"/>
          <p:cNvPicPr preferRelativeResize="0"/>
          <p:nvPr/>
        </p:nvPicPr>
        <p:blipFill rotWithShape="1">
          <a:blip r:embed="rId2">
            <a:alphaModFix amt="21000"/>
          </a:blip>
          <a:srcRect b="0" l="0" r="0" t="0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6"/>
          <p:cNvSpPr txBox="1"/>
          <p:nvPr>
            <p:ph type="title"/>
          </p:nvPr>
        </p:nvSpPr>
        <p:spPr>
          <a:xfrm>
            <a:off x="720000" y="365760"/>
            <a:ext cx="7703640" cy="54828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1" name="Google Shape;71;p16"/>
          <p:cNvSpPr txBox="1"/>
          <p:nvPr>
            <p:ph idx="1" type="body"/>
          </p:nvPr>
        </p:nvSpPr>
        <p:spPr>
          <a:xfrm>
            <a:off x="716760" y="1132920"/>
            <a:ext cx="7703640" cy="339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pic>
        <p:nvPicPr>
          <p:cNvPr id="72" name="Google Shape;72;p16"/>
          <p:cNvPicPr preferRelativeResize="0"/>
          <p:nvPr/>
        </p:nvPicPr>
        <p:blipFill rotWithShape="1">
          <a:blip r:embed="rId3">
            <a:alphaModFix amt="70000"/>
          </a:blip>
          <a:srcRect b="0" l="0" r="0" t="0"/>
          <a:stretch/>
        </p:blipFill>
        <p:spPr>
          <a:xfrm rot="10800000">
            <a:off x="-1985040" y="-848160"/>
            <a:ext cx="2804400" cy="280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6"/>
          <p:cNvPicPr preferRelativeResize="0"/>
          <p:nvPr/>
        </p:nvPicPr>
        <p:blipFill rotWithShape="1">
          <a:blip r:embed="rId4">
            <a:alphaModFix amt="70000"/>
          </a:blip>
          <a:srcRect b="0" l="0" r="0" t="0"/>
          <a:stretch/>
        </p:blipFill>
        <p:spPr>
          <a:xfrm>
            <a:off x="7306920" y="4046040"/>
            <a:ext cx="2766600" cy="300996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6"/>
          <p:cNvPicPr preferRelativeResize="0"/>
          <p:nvPr/>
        </p:nvPicPr>
        <p:blipFill rotWithShape="1">
          <a:blip r:embed="rId5">
            <a:alphaModFix amt="70000"/>
          </a:blip>
          <a:srcRect b="0" l="0" r="0" t="0"/>
          <a:stretch/>
        </p:blipFill>
        <p:spPr>
          <a:xfrm>
            <a:off x="8782920" y="3350160"/>
            <a:ext cx="668880" cy="668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3">
  <p:cSld name="CUSTOM_3">
    <p:bg>
      <p:bgPr>
        <a:solidFill>
          <a:schemeClr val="lt1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7"/>
          <p:cNvPicPr preferRelativeResize="0"/>
          <p:nvPr/>
        </p:nvPicPr>
        <p:blipFill rotWithShape="1">
          <a:blip r:embed="rId2">
            <a:alphaModFix amt="21000"/>
          </a:blip>
          <a:srcRect b="0" l="0" r="0" t="0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7"/>
          <p:cNvSpPr txBox="1"/>
          <p:nvPr>
            <p:ph type="title"/>
          </p:nvPr>
        </p:nvSpPr>
        <p:spPr>
          <a:xfrm>
            <a:off x="2098080" y="627120"/>
            <a:ext cx="4947480" cy="10929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pic>
        <p:nvPicPr>
          <p:cNvPr id="78" name="Google Shape;78;p17"/>
          <p:cNvPicPr preferRelativeResize="0"/>
          <p:nvPr/>
        </p:nvPicPr>
        <p:blipFill rotWithShape="1">
          <a:blip r:embed="rId3">
            <a:alphaModFix amt="70000"/>
          </a:blip>
          <a:srcRect b="0" l="0" r="0" t="0"/>
          <a:stretch/>
        </p:blipFill>
        <p:spPr>
          <a:xfrm>
            <a:off x="-1599840" y="1044720"/>
            <a:ext cx="2428920" cy="2428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7"/>
          <p:cNvPicPr preferRelativeResize="0"/>
          <p:nvPr/>
        </p:nvPicPr>
        <p:blipFill rotWithShape="1">
          <a:blip r:embed="rId3">
            <a:alphaModFix amt="70000"/>
          </a:blip>
          <a:srcRect b="0" l="0" r="0" t="0"/>
          <a:stretch/>
        </p:blipFill>
        <p:spPr>
          <a:xfrm>
            <a:off x="-236880" y="3484800"/>
            <a:ext cx="668880" cy="66888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7"/>
          <p:cNvPicPr preferRelativeResize="0"/>
          <p:nvPr/>
        </p:nvPicPr>
        <p:blipFill rotWithShape="1">
          <a:blip r:embed="rId4">
            <a:alphaModFix amt="70000"/>
          </a:blip>
          <a:srcRect b="0" l="0" r="0" t="0"/>
          <a:stretch/>
        </p:blipFill>
        <p:spPr>
          <a:xfrm>
            <a:off x="-1712880" y="4181040"/>
            <a:ext cx="2766600" cy="300996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7"/>
          <p:cNvPicPr preferRelativeResize="0"/>
          <p:nvPr/>
        </p:nvPicPr>
        <p:blipFill rotWithShape="1">
          <a:blip r:embed="rId5">
            <a:alphaModFix amt="70000"/>
          </a:blip>
          <a:srcRect b="1970" l="0" r="0" t="-1970"/>
          <a:stretch/>
        </p:blipFill>
        <p:spPr>
          <a:xfrm>
            <a:off x="8483040" y="144720"/>
            <a:ext cx="2858400" cy="285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7"/>
          <p:cNvPicPr preferRelativeResize="0"/>
          <p:nvPr/>
        </p:nvPicPr>
        <p:blipFill rotWithShape="1">
          <a:blip r:embed="rId6">
            <a:alphaModFix amt="70000"/>
          </a:blip>
          <a:srcRect b="0" l="0" r="0" t="0"/>
          <a:stretch/>
        </p:blipFill>
        <p:spPr>
          <a:xfrm rot="4907400">
            <a:off x="7380720" y="2755800"/>
            <a:ext cx="3428640" cy="342864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7"/>
          <p:cNvSpPr/>
          <p:nvPr/>
        </p:nvSpPr>
        <p:spPr>
          <a:xfrm>
            <a:off x="2097000" y="3675240"/>
            <a:ext cx="4949280" cy="5482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rPr>
              <a:t>CREDITS: This presentation template was created by </a:t>
            </a:r>
            <a:r>
              <a:rPr b="1" i="0" lang="en-GB" sz="1200" u="sng" cap="none" strike="noStrike">
                <a:solidFill>
                  <a:schemeClr val="hlink"/>
                </a:solidFill>
                <a:latin typeface="Albert Sans"/>
                <a:ea typeface="Albert Sans"/>
                <a:cs typeface="Albert Sans"/>
                <a:sym typeface="Albert Sans"/>
                <a:hlinkClick r:id="rId7"/>
              </a:rPr>
              <a:t>Slidesgo</a:t>
            </a:r>
            <a:r>
              <a:rPr b="0" i="0" lang="en-GB" sz="1200" u="none" cap="none" strike="noStrike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rPr>
              <a:t>, including icons by </a:t>
            </a:r>
            <a:r>
              <a:rPr b="1" i="0" lang="en-GB" sz="1200" u="sng" cap="none" strike="noStrike">
                <a:solidFill>
                  <a:schemeClr val="hlink"/>
                </a:solidFill>
                <a:latin typeface="Albert Sans"/>
                <a:ea typeface="Albert Sans"/>
                <a:cs typeface="Albert Sans"/>
                <a:sym typeface="Albert Sans"/>
                <a:hlinkClick r:id="rId8"/>
              </a:rPr>
              <a:t>Flaticon</a:t>
            </a:r>
            <a:r>
              <a:rPr b="0" i="0" lang="en-GB" sz="1200" u="none" cap="none" strike="noStrike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rPr>
              <a:t>, infographics &amp; images by </a:t>
            </a:r>
            <a:r>
              <a:rPr b="1" i="0" lang="en-GB" sz="1200" u="sng" cap="none" strike="noStrike">
                <a:solidFill>
                  <a:schemeClr val="hlink"/>
                </a:solidFill>
                <a:latin typeface="Albert Sans"/>
                <a:ea typeface="Albert Sans"/>
                <a:cs typeface="Albert Sans"/>
                <a:sym typeface="Albert Sans"/>
                <a:hlinkClick r:id="rId9"/>
              </a:rPr>
              <a:t>Freepik</a:t>
            </a:r>
            <a:endParaRPr b="0" i="0" sz="1200" u="none" cap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7.png"/><Relationship Id="rId4" Type="http://schemas.openxmlformats.org/officeDocument/2006/relationships/image" Target="../media/image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/>
          <p:nvPr>
            <p:ph type="title"/>
          </p:nvPr>
        </p:nvSpPr>
        <p:spPr>
          <a:xfrm>
            <a:off x="866880" y="1019160"/>
            <a:ext cx="6771960" cy="20379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ef Ruqaa"/>
              <a:buNone/>
            </a:pPr>
            <a:r>
              <a:rPr b="1" lang="en-GB" sz="5000" u="none" strike="noStrike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Colour Spaces</a:t>
            </a:r>
            <a:endParaRPr b="0" sz="50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8"/>
          <p:cNvSpPr txBox="1"/>
          <p:nvPr/>
        </p:nvSpPr>
        <p:spPr>
          <a:xfrm>
            <a:off x="1107025" y="2061625"/>
            <a:ext cx="54138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Albert Sans"/>
                <a:ea typeface="Albert Sans"/>
                <a:cs typeface="Albert Sans"/>
                <a:sym typeface="Albert Sans"/>
              </a:rPr>
              <a:t>RGB . HSV . YCbCR . LAB</a:t>
            </a:r>
            <a:endParaRPr>
              <a:latin typeface="Albert Sans"/>
              <a:ea typeface="Albert Sans"/>
              <a:cs typeface="Albert Sans"/>
              <a:sym typeface="Albert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lbert Sans"/>
              <a:ea typeface="Albert Sans"/>
              <a:cs typeface="Albert Sans"/>
              <a:sym typeface="Albert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rPr>
              <a:t>Mia | Romey | Kyra | </a:t>
            </a:r>
            <a:r>
              <a:rPr lang="en-GB">
                <a:latin typeface="Albert Sans"/>
                <a:ea typeface="Albert Sans"/>
                <a:cs typeface="Albert Sans"/>
                <a:sym typeface="Albert Sans"/>
              </a:rPr>
              <a:t>Rebecca | Julia </a:t>
            </a:r>
            <a:endParaRPr>
              <a:latin typeface="Albert Sans"/>
              <a:ea typeface="Albert Sans"/>
              <a:cs typeface="Albert Sans"/>
              <a:sym typeface="Albert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666666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cxnSp>
        <p:nvCxnSpPr>
          <p:cNvPr id="90" name="Google Shape;90;p18"/>
          <p:cNvCxnSpPr>
            <a:stCxn id="89" idx="1"/>
            <a:endCxn id="89" idx="3"/>
          </p:cNvCxnSpPr>
          <p:nvPr/>
        </p:nvCxnSpPr>
        <p:spPr>
          <a:xfrm>
            <a:off x="1107025" y="2410825"/>
            <a:ext cx="5413800" cy="0"/>
          </a:xfrm>
          <a:prstGeom prst="straightConnector1">
            <a:avLst/>
          </a:prstGeom>
          <a:noFill/>
          <a:ln cap="flat" cmpd="sng" w="19050">
            <a:solidFill>
              <a:srgbClr val="8D0808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/>
          <p:nvPr/>
        </p:nvSpPr>
        <p:spPr>
          <a:xfrm>
            <a:off x="5048280" y="1016455"/>
            <a:ext cx="2285700" cy="95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5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5000" u="none" cap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sp>
        <p:nvSpPr>
          <p:cNvPr id="96" name="Google Shape;96;p19"/>
          <p:cNvSpPr/>
          <p:nvPr/>
        </p:nvSpPr>
        <p:spPr>
          <a:xfrm>
            <a:off x="5048280" y="2086440"/>
            <a:ext cx="3619200" cy="14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RGB </a:t>
            </a:r>
            <a:endParaRPr b="0" i="0" sz="4000" u="none" cap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pic>
        <p:nvPicPr>
          <p:cNvPr id="97" name="Google Shape;97;p19" title="rgb_pixels.png"/>
          <p:cNvPicPr preferRelativeResize="0"/>
          <p:nvPr/>
        </p:nvPicPr>
        <p:blipFill rotWithShape="1">
          <a:blip r:embed="rId3">
            <a:alphaModFix/>
          </a:blip>
          <a:srcRect b="11186" l="0" r="0" t="11186"/>
          <a:stretch/>
        </p:blipFill>
        <p:spPr>
          <a:xfrm rot="4">
            <a:off x="0" y="1928"/>
            <a:ext cx="4476475" cy="51434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/>
          <p:nvPr/>
        </p:nvSpPr>
        <p:spPr>
          <a:xfrm>
            <a:off x="699400" y="476275"/>
            <a:ext cx="4881000" cy="95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000" u="none" cap="none" strike="noStrike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RGB</a:t>
            </a: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 F</a:t>
            </a:r>
            <a:r>
              <a:rPr b="1" i="0" lang="en-GB" sz="4000" u="none" cap="none" strike="noStrike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undamentals</a:t>
            </a:r>
            <a:endParaRPr b="0" i="0" sz="4000" u="none" cap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sp>
        <p:nvSpPr>
          <p:cNvPr id="103" name="Google Shape;103;p20"/>
          <p:cNvSpPr/>
          <p:nvPr/>
        </p:nvSpPr>
        <p:spPr>
          <a:xfrm>
            <a:off x="476225" y="1155525"/>
            <a:ext cx="4282200" cy="3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30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lbert Sans"/>
              <a:buChar char="●"/>
            </a:pPr>
            <a:r>
              <a:rPr lang="en-GB" sz="1600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rPr>
              <a:t>Represents colors as a combination of Red, Green and Blue</a:t>
            </a:r>
            <a:endParaRPr sz="1600">
              <a:solidFill>
                <a:schemeClr val="dk2"/>
              </a:solidFill>
              <a:latin typeface="Albert Sans"/>
              <a:ea typeface="Albert Sans"/>
              <a:cs typeface="Albert Sans"/>
              <a:sym typeface="Albert Sans"/>
            </a:endParaRPr>
          </a:p>
          <a:p>
            <a:pPr indent="-330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lbert Sans"/>
              <a:buChar char="●"/>
            </a:pPr>
            <a:r>
              <a:rPr lang="en-GB" sz="1600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rPr>
              <a:t>Works well in image editing</a:t>
            </a:r>
            <a:endParaRPr sz="1600">
              <a:solidFill>
                <a:schemeClr val="dk2"/>
              </a:solidFill>
              <a:latin typeface="Albert Sans"/>
              <a:ea typeface="Albert Sans"/>
              <a:cs typeface="Albert Sans"/>
              <a:sym typeface="Albert Sans"/>
            </a:endParaRPr>
          </a:p>
          <a:p>
            <a:pPr indent="-330200" lvl="1" marL="13716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lbert Sans"/>
              <a:buChar char="○"/>
            </a:pPr>
            <a:r>
              <a:rPr lang="en-GB" sz="1600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rPr>
              <a:t>provides almost the true color of the image</a:t>
            </a:r>
            <a:endParaRPr sz="1600">
              <a:solidFill>
                <a:schemeClr val="dk2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pic>
        <p:nvPicPr>
          <p:cNvPr id="104" name="Google Shape;104;p20" title="Venn_diagram_rgb.png"/>
          <p:cNvPicPr preferRelativeResize="0"/>
          <p:nvPr/>
        </p:nvPicPr>
        <p:blipFill rotWithShape="1">
          <a:blip r:embed="rId3">
            <a:alphaModFix/>
          </a:blip>
          <a:srcRect b="0" l="100" r="100" t="0"/>
          <a:stretch/>
        </p:blipFill>
        <p:spPr>
          <a:xfrm>
            <a:off x="5314425" y="974950"/>
            <a:ext cx="3265550" cy="31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>
            <p:ph type="title"/>
          </p:nvPr>
        </p:nvSpPr>
        <p:spPr>
          <a:xfrm>
            <a:off x="952510" y="185250"/>
            <a:ext cx="6095400" cy="119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0"/>
              <a:buFont typeface="Aref Ruqaa"/>
              <a:buNone/>
            </a:pP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RGB Applications</a:t>
            </a:r>
            <a:endParaRPr b="0" sz="40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1"/>
          <p:cNvSpPr txBox="1"/>
          <p:nvPr>
            <p:ph idx="1" type="subTitle"/>
          </p:nvPr>
        </p:nvSpPr>
        <p:spPr>
          <a:xfrm>
            <a:off x="1114560" y="2162160"/>
            <a:ext cx="6095400" cy="222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lbert Sans"/>
              <a:buNone/>
            </a:pPr>
            <a:r>
              <a:t/>
            </a:r>
            <a:endParaRPr sz="1600"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graphicFrame>
        <p:nvGraphicFramePr>
          <p:cNvPr id="111" name="Google Shape;111;p21"/>
          <p:cNvGraphicFramePr/>
          <p:nvPr/>
        </p:nvGraphicFramePr>
        <p:xfrm>
          <a:off x="952500" y="1920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{135E1E4E-BB0E-43A8-982B-7041CF8E5D1C}</a:tableStyleId>
              </a:tblPr>
              <a:tblGrid>
                <a:gridCol w="3619500"/>
                <a:gridCol w="36195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Applications</a:t>
                      </a:r>
                      <a:endParaRPr sz="1800"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Alternatives</a:t>
                      </a:r>
                      <a:endParaRPr sz="1800"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-330200" lvl="0" marL="45720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600"/>
                        <a:buFont typeface="Albert Sans"/>
                        <a:buAutoNum type="arabicPeriod"/>
                      </a:pPr>
                      <a:r>
                        <a:rPr lang="en-GB" sz="1600">
                          <a:solidFill>
                            <a:schemeClr val="dk2"/>
                          </a:solidFill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Digital Archiving and Conservation</a:t>
                      </a:r>
                      <a:endParaRPr sz="1600">
                        <a:solidFill>
                          <a:schemeClr val="dk2"/>
                        </a:solidFill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  <a:p>
                      <a:pPr indent="-330200" lvl="0" marL="45720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600"/>
                        <a:buFont typeface="Albert Sans"/>
                        <a:buAutoNum type="arabicPeriod"/>
                      </a:pPr>
                      <a:r>
                        <a:rPr lang="en-GB" sz="1600">
                          <a:solidFill>
                            <a:schemeClr val="dk2"/>
                          </a:solidFill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Web design</a:t>
                      </a:r>
                      <a:endParaRPr sz="1600">
                        <a:solidFill>
                          <a:schemeClr val="dk2"/>
                        </a:solidFill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  <a:p>
                      <a:pPr indent="-330200" lvl="0" marL="45720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600"/>
                        <a:buFont typeface="Albert Sans"/>
                        <a:buAutoNum type="arabicPeriod"/>
                      </a:pPr>
                      <a:r>
                        <a:rPr lang="en-GB" sz="1600">
                          <a:solidFill>
                            <a:schemeClr val="dk2"/>
                          </a:solidFill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Professional Image Editing</a:t>
                      </a:r>
                      <a:endParaRPr sz="1600"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-330200" lvl="0" marL="45720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600"/>
                        <a:buFont typeface="Albert Sans"/>
                        <a:buAutoNum type="arabicPeriod"/>
                      </a:pPr>
                      <a:r>
                        <a:rPr lang="en-GB" sz="1600">
                          <a:solidFill>
                            <a:schemeClr val="dk2"/>
                          </a:solidFill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Video/streaming → YCbCr</a:t>
                      </a:r>
                      <a:endParaRPr sz="1600">
                        <a:solidFill>
                          <a:schemeClr val="dk2"/>
                        </a:solidFill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  <a:p>
                      <a:pPr indent="-330200" lvl="0" marL="45720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600"/>
                        <a:buFont typeface="Albert Sans"/>
                        <a:buAutoNum type="arabicPeriod"/>
                      </a:pPr>
                      <a:r>
                        <a:rPr lang="en-GB" sz="1600">
                          <a:solidFill>
                            <a:schemeClr val="dk2"/>
                          </a:solidFill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Colour detection → HSV</a:t>
                      </a:r>
                      <a:endParaRPr sz="1600">
                        <a:solidFill>
                          <a:schemeClr val="dk2"/>
                        </a:solidFill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  <a:p>
                      <a:pPr indent="-330200" lvl="0" marL="457200" marR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600"/>
                        <a:buFont typeface="Albert Sans"/>
                        <a:buAutoNum type="arabicPeriod"/>
                      </a:pPr>
                      <a:r>
                        <a:rPr lang="en-GB" sz="1600">
                          <a:solidFill>
                            <a:schemeClr val="dk2"/>
                          </a:solidFill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Print/colour accuracy → LAB</a:t>
                      </a:r>
                      <a:endParaRPr sz="1600">
                        <a:solidFill>
                          <a:schemeClr val="dk2"/>
                        </a:solidFill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>
            <p:ph type="title"/>
          </p:nvPr>
        </p:nvSpPr>
        <p:spPr>
          <a:xfrm>
            <a:off x="542525" y="131625"/>
            <a:ext cx="6303300" cy="918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0"/>
              <a:buFont typeface="Aref Ruqaa"/>
              <a:buNone/>
            </a:pP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RGB in Conversions</a:t>
            </a:r>
            <a:endParaRPr b="0" sz="40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7" name="Google Shape;117;p22" title="cs-Photoroom.png"/>
          <p:cNvPicPr preferRelativeResize="0"/>
          <p:nvPr/>
        </p:nvPicPr>
        <p:blipFill rotWithShape="1">
          <a:blip r:embed="rId3">
            <a:alphaModFix/>
          </a:blip>
          <a:srcRect b="0" l="14494" r="14494" t="0"/>
          <a:stretch/>
        </p:blipFill>
        <p:spPr>
          <a:xfrm>
            <a:off x="2349975" y="903650"/>
            <a:ext cx="4444050" cy="44394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3"/>
          <p:cNvSpPr/>
          <p:nvPr/>
        </p:nvSpPr>
        <p:spPr>
          <a:xfrm>
            <a:off x="5048280" y="476280"/>
            <a:ext cx="3619200" cy="95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000" u="none" cap="none" strike="noStrike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Failure cases &amp; limitations</a:t>
            </a:r>
            <a:endParaRPr b="0" i="0" sz="4000" u="none" cap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sp>
        <p:nvSpPr>
          <p:cNvPr id="123" name="Google Shape;123;p23"/>
          <p:cNvSpPr/>
          <p:nvPr/>
        </p:nvSpPr>
        <p:spPr>
          <a:xfrm>
            <a:off x="5048275" y="1905125"/>
            <a:ext cx="3619200" cy="25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0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</a:pPr>
            <a:r>
              <a:rPr lang="en-GB" sz="1600">
                <a:latin typeface="Albert Sans"/>
                <a:ea typeface="Albert Sans"/>
                <a:cs typeface="Albert Sans"/>
                <a:sym typeface="Albert Sans"/>
              </a:rPr>
              <a:t>Red, Green and Blue channels are </a:t>
            </a:r>
            <a:r>
              <a:rPr lang="en-GB" sz="1600">
                <a:latin typeface="Albert Sans"/>
                <a:ea typeface="Albert Sans"/>
                <a:cs typeface="Albert Sans"/>
                <a:sym typeface="Albert Sans"/>
              </a:rPr>
              <a:t>highly</a:t>
            </a:r>
            <a:r>
              <a:rPr lang="en-GB" sz="1600">
                <a:latin typeface="Albert Sans"/>
                <a:ea typeface="Albert Sans"/>
                <a:cs typeface="Albert Sans"/>
                <a:sym typeface="Albert Sans"/>
              </a:rPr>
              <a:t> dependant on each other</a:t>
            </a:r>
            <a:endParaRPr sz="1600">
              <a:latin typeface="Albert Sans"/>
              <a:ea typeface="Albert Sans"/>
              <a:cs typeface="Albert Sans"/>
              <a:sym typeface="Albert Sans"/>
            </a:endParaRPr>
          </a:p>
          <a:p>
            <a:pPr indent="-330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</a:pPr>
            <a:r>
              <a:rPr lang="en-GB" sz="1600">
                <a:latin typeface="Albert Sans"/>
                <a:ea typeface="Albert Sans"/>
                <a:cs typeface="Albert Sans"/>
                <a:sym typeface="Albert Sans"/>
              </a:rPr>
              <a:t>Inefficient for data compression</a:t>
            </a:r>
            <a:endParaRPr sz="1600">
              <a:latin typeface="Albert Sans"/>
              <a:ea typeface="Albert Sans"/>
              <a:cs typeface="Albert Sans"/>
              <a:sym typeface="Albert Sans"/>
            </a:endParaRPr>
          </a:p>
          <a:p>
            <a:pPr indent="-330200" lvl="1" marL="9144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○"/>
            </a:pPr>
            <a:r>
              <a:rPr lang="en-GB" sz="1600">
                <a:latin typeface="Albert Sans"/>
                <a:ea typeface="Albert Sans"/>
                <a:cs typeface="Albert Sans"/>
                <a:sym typeface="Albert Sans"/>
              </a:rPr>
              <a:t>The channels contain </a:t>
            </a:r>
            <a:r>
              <a:rPr lang="en-GB" sz="1600">
                <a:latin typeface="Albert Sans"/>
                <a:ea typeface="Albert Sans"/>
                <a:cs typeface="Albert Sans"/>
                <a:sym typeface="Albert Sans"/>
              </a:rPr>
              <a:t>redundant</a:t>
            </a:r>
            <a:r>
              <a:rPr lang="en-GB" sz="1600">
                <a:latin typeface="Albert Sans"/>
                <a:ea typeface="Albert Sans"/>
                <a:cs typeface="Albert Sans"/>
                <a:sym typeface="Albert Sans"/>
              </a:rPr>
              <a:t> information that wastes bandwidth </a:t>
            </a:r>
            <a:endParaRPr sz="1600">
              <a:solidFill>
                <a:srgbClr val="FF0000"/>
              </a:solidFill>
              <a:latin typeface="Albert Sans"/>
              <a:ea typeface="Albert Sans"/>
              <a:cs typeface="Albert Sans"/>
              <a:sym typeface="Albert Sans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Albert Sans"/>
              <a:ea typeface="Albert Sans"/>
              <a:cs typeface="Albert Sans"/>
              <a:sym typeface="Albert Sans"/>
            </a:endParaRPr>
          </a:p>
        </p:txBody>
      </p:sp>
      <p:pic>
        <p:nvPicPr>
          <p:cNvPr id="124" name="Google Shape;124;p23"/>
          <p:cNvPicPr preferRelativeResize="0"/>
          <p:nvPr/>
        </p:nvPicPr>
        <p:blipFill rotWithShape="1">
          <a:blip r:embed="rId3">
            <a:alphaModFix/>
          </a:blip>
          <a:srcRect b="0" l="49998" r="0" t="3363"/>
          <a:stretch/>
        </p:blipFill>
        <p:spPr>
          <a:xfrm>
            <a:off x="282088" y="2928750"/>
            <a:ext cx="4572001" cy="183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3"/>
          <p:cNvPicPr preferRelativeResize="0"/>
          <p:nvPr/>
        </p:nvPicPr>
        <p:blipFill rotWithShape="1">
          <a:blip r:embed="rId3">
            <a:alphaModFix/>
          </a:blip>
          <a:srcRect b="0" l="796" r="49755" t="3363"/>
          <a:stretch/>
        </p:blipFill>
        <p:spPr>
          <a:xfrm>
            <a:off x="307400" y="476275"/>
            <a:ext cx="4521375" cy="183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/>
          <p:nvPr/>
        </p:nvSpPr>
        <p:spPr>
          <a:xfrm>
            <a:off x="476280" y="476280"/>
            <a:ext cx="2285640" cy="95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5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5000" u="none" cap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sp>
        <p:nvSpPr>
          <p:cNvPr id="131" name="Google Shape;131;p24"/>
          <p:cNvSpPr/>
          <p:nvPr/>
        </p:nvSpPr>
        <p:spPr>
          <a:xfrm>
            <a:off x="476280" y="1428840"/>
            <a:ext cx="3619080" cy="1428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HSV</a:t>
            </a:r>
            <a:endParaRPr b="0" i="0" sz="4000" u="none" cap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grpSp>
        <p:nvGrpSpPr>
          <p:cNvPr id="132" name="Google Shape;132;p24"/>
          <p:cNvGrpSpPr/>
          <p:nvPr/>
        </p:nvGrpSpPr>
        <p:grpSpPr>
          <a:xfrm>
            <a:off x="4026366" y="-75"/>
            <a:ext cx="4398114" cy="5143652"/>
            <a:chOff x="4815150" y="0"/>
            <a:chExt cx="4328852" cy="5062650"/>
          </a:xfrm>
        </p:grpSpPr>
        <p:pic>
          <p:nvPicPr>
            <p:cNvPr id="133" name="Google Shape;133;p24" title="Screenshot 2026-05-13 at 13.57.24.png"/>
            <p:cNvPicPr preferRelativeResize="0"/>
            <p:nvPr/>
          </p:nvPicPr>
          <p:blipFill rotWithShape="1">
            <a:blip r:embed="rId3">
              <a:alphaModFix/>
            </a:blip>
            <a:srcRect b="0" l="53142" r="0" t="24659"/>
            <a:stretch/>
          </p:blipFill>
          <p:spPr>
            <a:xfrm>
              <a:off x="4960550" y="2490900"/>
              <a:ext cx="4183450" cy="25717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4" name="Google Shape;134;p24" title="Screenshot 2026-05-13 at 13.57.24.png"/>
            <p:cNvPicPr preferRelativeResize="0"/>
            <p:nvPr/>
          </p:nvPicPr>
          <p:blipFill rotWithShape="1">
            <a:blip r:embed="rId3">
              <a:alphaModFix/>
            </a:blip>
            <a:srcRect b="0" l="-1742" r="51682" t="24659"/>
            <a:stretch/>
          </p:blipFill>
          <p:spPr>
            <a:xfrm>
              <a:off x="4815150" y="0"/>
              <a:ext cx="4328852" cy="249089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5"/>
          <p:cNvSpPr/>
          <p:nvPr/>
        </p:nvSpPr>
        <p:spPr>
          <a:xfrm>
            <a:off x="476275" y="476275"/>
            <a:ext cx="5280300" cy="95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HSV  F</a:t>
            </a:r>
            <a:r>
              <a:rPr b="1" i="0" lang="en-GB" sz="4000" u="none" cap="none" strike="noStrike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undamentals</a:t>
            </a:r>
            <a:endParaRPr b="0" i="0" sz="4000" u="none" cap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sp>
        <p:nvSpPr>
          <p:cNvPr id="140" name="Google Shape;140;p25"/>
          <p:cNvSpPr/>
          <p:nvPr/>
        </p:nvSpPr>
        <p:spPr>
          <a:xfrm>
            <a:off x="476275" y="1544325"/>
            <a:ext cx="5280300" cy="339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lbert Sans"/>
              <a:buChar char="●"/>
            </a:pPr>
            <a:r>
              <a:rPr lang="en-GB" sz="1600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rPr>
              <a:t>3 human-intuitive axes: </a:t>
            </a:r>
            <a:r>
              <a:rPr b="1" lang="en-GB" sz="1600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rPr>
              <a:t>Hue</a:t>
            </a:r>
            <a:r>
              <a:rPr lang="en-GB" sz="1600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rPr>
              <a:t> (what colour), </a:t>
            </a:r>
            <a:r>
              <a:rPr b="1" lang="en-GB" sz="1600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rPr>
              <a:t>Saturation</a:t>
            </a:r>
            <a:r>
              <a:rPr lang="en-GB" sz="1600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rPr>
              <a:t> (how vivid), and </a:t>
            </a:r>
            <a:r>
              <a:rPr b="1" lang="en-GB" sz="1600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rPr>
              <a:t>Value</a:t>
            </a:r>
            <a:r>
              <a:rPr lang="en-GB" sz="1600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rPr>
              <a:t> (how bright)</a:t>
            </a:r>
            <a:endParaRPr sz="1600">
              <a:solidFill>
                <a:schemeClr val="dk2"/>
              </a:solidFill>
              <a:latin typeface="Albert Sans"/>
              <a:ea typeface="Albert Sans"/>
              <a:cs typeface="Albert Sans"/>
              <a:sym typeface="Albert Sans"/>
            </a:endParaRPr>
          </a:p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lbert Sans"/>
              <a:buChar char="●"/>
            </a:pPr>
            <a:r>
              <a:rPr lang="en-GB" sz="1600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rPr>
              <a:t>Designed by Alvy Ray Smith in 1978 so artists could think "bright saturated blue" instead of hunting through RGB numbers</a:t>
            </a:r>
            <a:endParaRPr sz="1600">
              <a:solidFill>
                <a:schemeClr val="dk2"/>
              </a:solidFill>
              <a:latin typeface="Albert Sans"/>
              <a:ea typeface="Albert Sans"/>
              <a:cs typeface="Albert Sans"/>
              <a:sym typeface="Albert Sans"/>
            </a:endParaRPr>
          </a:p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lbert Sans"/>
              <a:buChar char="●"/>
            </a:pPr>
            <a:r>
              <a:rPr lang="en-GB" sz="1600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rPr>
              <a:t>Changing brightness only affects V, leaving the colour itself untouched</a:t>
            </a:r>
            <a:endParaRPr sz="1600">
              <a:solidFill>
                <a:schemeClr val="dk2"/>
              </a:solidFill>
              <a:latin typeface="Albert Sans"/>
              <a:ea typeface="Albert Sans"/>
              <a:cs typeface="Albert Sans"/>
              <a:sym typeface="Albert Sans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pic>
        <p:nvPicPr>
          <p:cNvPr id="141" name="Google Shape;141;p25"/>
          <p:cNvPicPr preferRelativeResize="0"/>
          <p:nvPr/>
        </p:nvPicPr>
        <p:blipFill rotWithShape="1">
          <a:blip r:embed="rId3">
            <a:alphaModFix/>
          </a:blip>
          <a:srcRect b="0" l="53585" r="-2136" t="7055"/>
          <a:stretch/>
        </p:blipFill>
        <p:spPr>
          <a:xfrm>
            <a:off x="6040775" y="-1"/>
            <a:ext cx="3246050" cy="2510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5"/>
          <p:cNvPicPr preferRelativeResize="0"/>
          <p:nvPr/>
        </p:nvPicPr>
        <p:blipFill rotWithShape="1">
          <a:blip r:embed="rId4">
            <a:alphaModFix/>
          </a:blip>
          <a:srcRect b="31308" l="32252" r="31135" t="13997"/>
          <a:stretch/>
        </p:blipFill>
        <p:spPr>
          <a:xfrm>
            <a:off x="6040775" y="2510175"/>
            <a:ext cx="3103227" cy="263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6"/>
          <p:cNvSpPr txBox="1"/>
          <p:nvPr>
            <p:ph type="title"/>
          </p:nvPr>
        </p:nvSpPr>
        <p:spPr>
          <a:xfrm>
            <a:off x="900750" y="672350"/>
            <a:ext cx="7342500" cy="1030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0"/>
              <a:buFont typeface="Aref Ruqaa"/>
              <a:buNone/>
            </a:pP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Real World Application:</a:t>
            </a:r>
            <a:endParaRPr b="1" sz="4000">
              <a:solidFill>
                <a:schemeClr val="dk1"/>
              </a:solidFill>
              <a:latin typeface="Aref Ruqaa"/>
              <a:ea typeface="Aref Ruqaa"/>
              <a:cs typeface="Aref Ruqaa"/>
              <a:sym typeface="Aref Ruqa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0"/>
              <a:buFont typeface="Aref Ruqaa"/>
              <a:buNone/>
            </a:pP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Colour Masking</a:t>
            </a:r>
            <a:r>
              <a:rPr b="1" lang="en-GB" sz="4000" u="none" strike="noStrike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 </a:t>
            </a:r>
            <a:endParaRPr b="0" sz="40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26"/>
          <p:cNvSpPr txBox="1"/>
          <p:nvPr>
            <p:ph idx="1" type="subTitle"/>
          </p:nvPr>
        </p:nvSpPr>
        <p:spPr>
          <a:xfrm>
            <a:off x="332400" y="1702850"/>
            <a:ext cx="4026000" cy="31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lbert Sans"/>
              <a:buChar char="●"/>
            </a:pPr>
            <a:r>
              <a:rPr lang="en-GB" sz="1600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rPr>
              <a:t>HSV is the standard colour space for object detection by colour in computer vision</a:t>
            </a:r>
            <a:endParaRPr sz="1600">
              <a:solidFill>
                <a:schemeClr val="dk2"/>
              </a:solidFill>
              <a:latin typeface="Albert Sans"/>
              <a:ea typeface="Albert Sans"/>
              <a:cs typeface="Albert Sans"/>
              <a:sym typeface="Albert Sans"/>
            </a:endParaRPr>
          </a:p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lbert Sans"/>
              <a:buChar char="●"/>
            </a:pPr>
            <a:r>
              <a:rPr lang="en-GB" sz="1600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rPr>
              <a:t>A hue range threshold isolates a specific colour regardless of lighting. This is something RGB cannot do reliably</a:t>
            </a:r>
            <a:endParaRPr sz="1600">
              <a:solidFill>
                <a:schemeClr val="dk2"/>
              </a:solidFill>
              <a:latin typeface="Albert Sans"/>
              <a:ea typeface="Albert Sans"/>
              <a:cs typeface="Albert Sans"/>
              <a:sym typeface="Albert Sans"/>
            </a:endParaRPr>
          </a:p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lbert Sans"/>
              <a:buChar char="●"/>
            </a:pPr>
            <a:r>
              <a:rPr lang="en-GB" sz="1600">
                <a:solidFill>
                  <a:schemeClr val="dk2"/>
                </a:solidFill>
                <a:latin typeface="Albert Sans"/>
                <a:ea typeface="Albert Sans"/>
                <a:cs typeface="Albert Sans"/>
                <a:sym typeface="Albert Sans"/>
              </a:rPr>
              <a:t>Used in traffic light detection, fire detection, and medical imaging</a:t>
            </a:r>
            <a:endParaRPr sz="1600">
              <a:solidFill>
                <a:schemeClr val="dk2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grpSp>
        <p:nvGrpSpPr>
          <p:cNvPr id="149" name="Google Shape;149;p26"/>
          <p:cNvGrpSpPr/>
          <p:nvPr/>
        </p:nvGrpSpPr>
        <p:grpSpPr>
          <a:xfrm>
            <a:off x="4358400" y="1932148"/>
            <a:ext cx="4719367" cy="2384546"/>
            <a:chOff x="0" y="3473650"/>
            <a:chExt cx="3304879" cy="1669850"/>
          </a:xfrm>
        </p:grpSpPr>
        <p:pic>
          <p:nvPicPr>
            <p:cNvPr id="150" name="Google Shape;150;p26"/>
            <p:cNvPicPr preferRelativeResize="0"/>
            <p:nvPr/>
          </p:nvPicPr>
          <p:blipFill rotWithShape="1">
            <a:blip r:embed="rId3">
              <a:alphaModFix/>
            </a:blip>
            <a:srcRect b="0" l="0" r="88005" t="0"/>
            <a:stretch/>
          </p:blipFill>
          <p:spPr>
            <a:xfrm>
              <a:off x="0" y="3473650"/>
              <a:ext cx="1096827" cy="16698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1" name="Google Shape;151;p26"/>
            <p:cNvPicPr preferRelativeResize="0"/>
            <p:nvPr/>
          </p:nvPicPr>
          <p:blipFill rotWithShape="1">
            <a:blip r:embed="rId3">
              <a:alphaModFix/>
            </a:blip>
            <a:srcRect b="0" l="43384" r="43674" t="0"/>
            <a:stretch/>
          </p:blipFill>
          <p:spPr>
            <a:xfrm>
              <a:off x="1024651" y="3473650"/>
              <a:ext cx="1183401" cy="16698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2" name="Google Shape;152;p26"/>
            <p:cNvPicPr preferRelativeResize="0"/>
            <p:nvPr/>
          </p:nvPicPr>
          <p:blipFill rotWithShape="1">
            <a:blip r:embed="rId3">
              <a:alphaModFix/>
            </a:blip>
            <a:srcRect b="0" l="88005" r="0" t="0"/>
            <a:stretch/>
          </p:blipFill>
          <p:spPr>
            <a:xfrm>
              <a:off x="2208052" y="3473650"/>
              <a:ext cx="1096827" cy="16698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3" name="Google Shape;153;p26"/>
          <p:cNvSpPr txBox="1"/>
          <p:nvPr/>
        </p:nvSpPr>
        <p:spPr>
          <a:xfrm>
            <a:off x="4572000" y="4231825"/>
            <a:ext cx="4377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latin typeface="Albert Sans"/>
                <a:ea typeface="Albert Sans"/>
                <a:cs typeface="Albert Sans"/>
                <a:sym typeface="Albert Sans"/>
              </a:rPr>
              <a:t>Same tulip, same threshold. HSV isolates cleanly, RGB fragments under shadow.</a:t>
            </a:r>
            <a:endParaRPr i="1" sz="900">
              <a:latin typeface="Albert Sans"/>
              <a:ea typeface="Albert Sans"/>
              <a:cs typeface="Albert Sans"/>
              <a:sym typeface="Albert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>
            <p:ph type="title"/>
          </p:nvPr>
        </p:nvSpPr>
        <p:spPr>
          <a:xfrm>
            <a:off x="662700" y="196200"/>
            <a:ext cx="7818600" cy="119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0"/>
              <a:buFont typeface="Aref Ruqaa"/>
              <a:buNone/>
            </a:pP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RGB → HSV</a:t>
            </a:r>
            <a:endParaRPr b="0" sz="40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7"/>
          <p:cNvSpPr txBox="1"/>
          <p:nvPr>
            <p:ph idx="1" type="subTitle"/>
          </p:nvPr>
        </p:nvSpPr>
        <p:spPr>
          <a:xfrm>
            <a:off x="548700" y="1386300"/>
            <a:ext cx="4023300" cy="33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lbert Sans"/>
              <a:buNone/>
            </a:pPr>
            <a:r>
              <a:rPr lang="en-GB" sz="1600">
                <a:latin typeface="Albert Sans"/>
                <a:ea typeface="Albert Sans"/>
                <a:cs typeface="Albert Sans"/>
                <a:sym typeface="Albert Sans"/>
              </a:rPr>
              <a:t>Step 1: Normalise R, G, B to [0, 1]</a:t>
            </a:r>
            <a:endParaRPr sz="1600">
              <a:latin typeface="Albert Sans"/>
              <a:ea typeface="Albert Sans"/>
              <a:cs typeface="Albert Sans"/>
              <a:sym typeface="Albert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lbert Sans"/>
              <a:buNone/>
            </a:pPr>
            <a:r>
              <a:rPr lang="en-GB" sz="1600">
                <a:latin typeface="Albert Sans"/>
                <a:ea typeface="Albert Sans"/>
                <a:cs typeface="Albert Sans"/>
                <a:sym typeface="Albert Sans"/>
              </a:rPr>
              <a:t>Step 2: V = max(R, G, B)</a:t>
            </a:r>
            <a:endParaRPr sz="1600">
              <a:latin typeface="Albert Sans"/>
              <a:ea typeface="Albert Sans"/>
              <a:cs typeface="Albert Sans"/>
              <a:sym typeface="Albert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lbert Sans"/>
              <a:buNone/>
            </a:pPr>
            <a:r>
              <a:rPr lang="en-GB" sz="1600">
                <a:latin typeface="Albert Sans"/>
                <a:ea typeface="Albert Sans"/>
                <a:cs typeface="Albert Sans"/>
                <a:sym typeface="Albert Sans"/>
              </a:rPr>
              <a:t>Step 3: S = δ / V </a:t>
            </a:r>
            <a:endParaRPr sz="1600">
              <a:latin typeface="Albert Sans"/>
              <a:ea typeface="Albert Sans"/>
              <a:cs typeface="Albert Sans"/>
              <a:sym typeface="Albert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lbert Sans"/>
              <a:buNone/>
            </a:pPr>
            <a:r>
              <a:rPr lang="en-GB" sz="1600">
                <a:latin typeface="Albert Sans"/>
                <a:ea typeface="Albert Sans"/>
                <a:cs typeface="Albert Sans"/>
                <a:sym typeface="Albert Sans"/>
              </a:rPr>
              <a:t>where δ = max − min (S = 0 if V = 0)</a:t>
            </a:r>
            <a:endParaRPr sz="1600">
              <a:latin typeface="Albert Sans"/>
              <a:ea typeface="Albert Sans"/>
              <a:cs typeface="Albert Sans"/>
              <a:sym typeface="Albert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lbert Sans"/>
              <a:buNone/>
            </a:pPr>
            <a:r>
              <a:rPr lang="en-GB" sz="1600">
                <a:latin typeface="Albert Sans"/>
                <a:ea typeface="Albert Sans"/>
                <a:cs typeface="Albert Sans"/>
                <a:sym typeface="Albert Sans"/>
              </a:rPr>
              <a:t>Step 4: H = 60° × formula based on which channel is dominant</a:t>
            </a:r>
            <a:endParaRPr sz="1600">
              <a:latin typeface="Albert Sans"/>
              <a:ea typeface="Albert Sans"/>
              <a:cs typeface="Albert Sans"/>
              <a:sym typeface="Albert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lbert Sans"/>
              <a:buNone/>
            </a:pPr>
            <a:r>
              <a:t/>
            </a:r>
            <a:endParaRPr sz="1600">
              <a:latin typeface="Albert Sans"/>
              <a:ea typeface="Albert Sans"/>
              <a:cs typeface="Albert Sans"/>
              <a:sym typeface="Albert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lbert Sans"/>
              <a:buNone/>
            </a:pPr>
            <a:r>
              <a:rPr lang="en-GB" sz="1600">
                <a:latin typeface="Albert Sans"/>
                <a:ea typeface="Albert Sans"/>
                <a:cs typeface="Albert Sans"/>
                <a:sym typeface="Albert Sans"/>
              </a:rPr>
              <a:t>Refer to the worked out example:</a:t>
            </a:r>
            <a:endParaRPr sz="1600">
              <a:latin typeface="Albert Sans"/>
              <a:ea typeface="Albert Sans"/>
              <a:cs typeface="Albert Sans"/>
              <a:sym typeface="Albert Sans"/>
            </a:endParaRPr>
          </a:p>
        </p:txBody>
      </p:sp>
      <p:grpSp>
        <p:nvGrpSpPr>
          <p:cNvPr id="160" name="Google Shape;160;p27"/>
          <p:cNvGrpSpPr/>
          <p:nvPr/>
        </p:nvGrpSpPr>
        <p:grpSpPr>
          <a:xfrm>
            <a:off x="4089477" y="1644754"/>
            <a:ext cx="4969655" cy="3398372"/>
            <a:chOff x="4460725" y="1112825"/>
            <a:chExt cx="4413548" cy="3017825"/>
          </a:xfrm>
        </p:grpSpPr>
        <p:pic>
          <p:nvPicPr>
            <p:cNvPr id="161" name="Google Shape;161;p27" title="Screenshot 2026-05-13 at 13.34.57.png"/>
            <p:cNvPicPr preferRelativeResize="0"/>
            <p:nvPr/>
          </p:nvPicPr>
          <p:blipFill rotWithShape="1">
            <a:blip r:embed="rId3">
              <a:alphaModFix/>
            </a:blip>
            <a:srcRect b="8004" l="3462" r="3462" t="33314"/>
            <a:stretch/>
          </p:blipFill>
          <p:spPr>
            <a:xfrm>
              <a:off x="4460725" y="2420125"/>
              <a:ext cx="4413548" cy="17105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2" name="Google Shape;162;p27"/>
            <p:cNvPicPr preferRelativeResize="0"/>
            <p:nvPr/>
          </p:nvPicPr>
          <p:blipFill rotWithShape="1">
            <a:blip r:embed="rId4">
              <a:alphaModFix/>
            </a:blip>
            <a:srcRect b="38296" l="3462" r="3462" t="16688"/>
            <a:stretch/>
          </p:blipFill>
          <p:spPr>
            <a:xfrm>
              <a:off x="4460725" y="1112825"/>
              <a:ext cx="4413548" cy="131224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8"/>
          <p:cNvSpPr/>
          <p:nvPr/>
        </p:nvSpPr>
        <p:spPr>
          <a:xfrm>
            <a:off x="952494" y="315950"/>
            <a:ext cx="7620600" cy="95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HSV Limitations</a:t>
            </a:r>
            <a:endParaRPr b="0" i="0" sz="4000" u="none" cap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sp>
        <p:nvSpPr>
          <p:cNvPr id="168" name="Google Shape;168;p28"/>
          <p:cNvSpPr/>
          <p:nvPr/>
        </p:nvSpPr>
        <p:spPr>
          <a:xfrm>
            <a:off x="1046869" y="1905125"/>
            <a:ext cx="7620600" cy="27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graphicFrame>
        <p:nvGraphicFramePr>
          <p:cNvPr id="169" name="Google Shape;169;p28"/>
          <p:cNvGraphicFramePr/>
          <p:nvPr/>
        </p:nvGraphicFramePr>
        <p:xfrm>
          <a:off x="952500" y="14284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{135E1E4E-BB0E-43A8-982B-7041CF8E5D1C}</a:tableStyleId>
              </a:tblPr>
              <a:tblGrid>
                <a:gridCol w="2413000"/>
                <a:gridCol w="2818500"/>
                <a:gridCol w="2007500"/>
              </a:tblGrid>
              <a:tr h="586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Situation</a:t>
                      </a:r>
                      <a:endParaRPr b="1"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Problem</a:t>
                      </a:r>
                      <a:endParaRPr b="1"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Use instead</a:t>
                      </a:r>
                      <a:endParaRPr b="1"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686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Measuring how different two colours look</a:t>
                      </a:r>
                      <a:endParaRPr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HSV distance ≠ perceptual difference</a:t>
                      </a:r>
                      <a:endParaRPr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LAB</a:t>
                      </a:r>
                      <a:endParaRPr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46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Compression and video transmission</a:t>
                      </a:r>
                      <a:endParaRPr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HSV not designed for subsampling</a:t>
                      </a:r>
                      <a:endParaRPr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YCbCr</a:t>
                      </a:r>
                      <a:endParaRPr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2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Objects that are grey, white, or pastel</a:t>
                      </a:r>
                      <a:endParaRPr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Hue is unreliable at low saturation</a:t>
                      </a:r>
                      <a:endParaRPr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OpenCV fix - S min threshold</a:t>
                      </a:r>
                      <a:endParaRPr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9"/>
          <p:cNvSpPr/>
          <p:nvPr/>
        </p:nvSpPr>
        <p:spPr>
          <a:xfrm>
            <a:off x="5028155" y="1215580"/>
            <a:ext cx="2285700" cy="95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5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GB" sz="5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5000" u="none" cap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sp>
        <p:nvSpPr>
          <p:cNvPr id="175" name="Google Shape;175;p29"/>
          <p:cNvSpPr/>
          <p:nvPr/>
        </p:nvSpPr>
        <p:spPr>
          <a:xfrm>
            <a:off x="5028155" y="2120915"/>
            <a:ext cx="3619200" cy="14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YCbCr</a:t>
            </a: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 </a:t>
            </a:r>
            <a:endParaRPr b="0" i="0" sz="4000" u="none" cap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pic>
        <p:nvPicPr>
          <p:cNvPr id="176" name="Google Shape;17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5788" y="0"/>
            <a:ext cx="3174623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0"/>
          <p:cNvSpPr/>
          <p:nvPr/>
        </p:nvSpPr>
        <p:spPr>
          <a:xfrm>
            <a:off x="952798" y="446200"/>
            <a:ext cx="4909500" cy="95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YCbCr</a:t>
            </a:r>
            <a:endParaRPr b="1" sz="4000">
              <a:solidFill>
                <a:schemeClr val="dk1"/>
              </a:solidFill>
              <a:latin typeface="Aref Ruqaa"/>
              <a:ea typeface="Aref Ruqaa"/>
              <a:cs typeface="Aref Ruqaa"/>
              <a:sym typeface="Aref Ruqa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F</a:t>
            </a:r>
            <a:r>
              <a:rPr b="1" i="0" lang="en-GB" sz="4000" u="none" cap="none" strike="noStrike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undamentals</a:t>
            </a:r>
            <a:endParaRPr b="0" i="0" sz="4000" u="none" cap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sp>
        <p:nvSpPr>
          <p:cNvPr id="182" name="Google Shape;182;p30"/>
          <p:cNvSpPr/>
          <p:nvPr/>
        </p:nvSpPr>
        <p:spPr>
          <a:xfrm>
            <a:off x="476275" y="1710300"/>
            <a:ext cx="3619200" cy="274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oto Sans Symbols"/>
              <a:buChar char="●"/>
            </a:pPr>
            <a:r>
              <a:rPr lang="en-GB" sz="15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Colour space used in digital image and video compression</a:t>
            </a:r>
            <a:endParaRPr sz="15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oto Sans Symbols"/>
              <a:buChar char="●"/>
            </a:pPr>
            <a:r>
              <a:rPr lang="en-GB" sz="15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Separates luminance (Y′) from chrominance (Cb, Cr)</a:t>
            </a:r>
            <a:endParaRPr sz="15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oto Sans Symbols"/>
              <a:buChar char="●"/>
            </a:pPr>
            <a:r>
              <a:rPr lang="en-GB" sz="15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Y′ stores image detail, Cb and Cr store colour information</a:t>
            </a:r>
            <a:endParaRPr sz="15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oto Sans Symbols"/>
              <a:buChar char="●"/>
            </a:pPr>
            <a:r>
              <a:rPr lang="en-GB" sz="15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Enables efficient compression with minimal visible quality loss</a:t>
            </a:r>
            <a:endParaRPr sz="15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pic>
        <p:nvPicPr>
          <p:cNvPr id="183" name="Google Shape;183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93751" y="836888"/>
            <a:ext cx="3469725" cy="3469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1"/>
          <p:cNvSpPr txBox="1"/>
          <p:nvPr>
            <p:ph type="title"/>
          </p:nvPr>
        </p:nvSpPr>
        <p:spPr>
          <a:xfrm>
            <a:off x="1017400" y="375975"/>
            <a:ext cx="7744800" cy="631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90"/>
              <a:buFont typeface="Aref Ruqaa"/>
              <a:buNone/>
            </a:pP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RGB ↔ YCbCr Conversion</a:t>
            </a:r>
            <a:endParaRPr b="0" sz="40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1"/>
          <p:cNvSpPr txBox="1"/>
          <p:nvPr>
            <p:ph idx="1" type="subTitle"/>
          </p:nvPr>
        </p:nvSpPr>
        <p:spPr>
          <a:xfrm>
            <a:off x="606900" y="1248525"/>
            <a:ext cx="8155200" cy="362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Noto Sans Symbols"/>
              <a:buChar char="●"/>
            </a:pPr>
            <a:r>
              <a:rPr lang="en-GB" sz="16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Images are usually stored in RGB and then converted to YCbCr before compression</a:t>
            </a:r>
            <a:endParaRPr sz="16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Noto Sans Symbols"/>
              <a:buChar char="●"/>
            </a:pPr>
            <a:r>
              <a:rPr lang="en-GB" sz="16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Conversion </a:t>
            </a:r>
            <a:r>
              <a:rPr lang="en-GB" sz="16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separates</a:t>
            </a:r>
            <a:r>
              <a:rPr lang="en-GB" sz="16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luminance (Y) from  chrominance (Cb, Cr)</a:t>
            </a:r>
            <a:endParaRPr sz="16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Noto Sans Symbols"/>
              <a:buChar char="●"/>
            </a:pPr>
            <a:r>
              <a:rPr lang="en-GB" sz="16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Based on weighted combinations of RGB  values (BT.601 standard)</a:t>
            </a:r>
            <a:endParaRPr sz="16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 Y = 0.299R + 0.587G + 0.114B + 16</a:t>
            </a:r>
            <a:endParaRPr sz="16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 Cb = -0.1687R - 0.3313G + 0.500B + 128</a:t>
            </a:r>
            <a:endParaRPr sz="16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 Cr = 0.500R - 0.4187G - 0.0813B + 128</a:t>
            </a:r>
            <a:endParaRPr sz="16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Noto Sans Symbols"/>
              <a:buChar char="●"/>
            </a:pPr>
            <a:r>
              <a:rPr lang="en-GB" sz="16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Enables efficient chroma subsampling and compression</a:t>
            </a:r>
            <a:endParaRPr sz="16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pic>
        <p:nvPicPr>
          <p:cNvPr id="190" name="Google Shape;190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59525" y="2792651"/>
            <a:ext cx="2867225" cy="1406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2"/>
          <p:cNvSpPr txBox="1"/>
          <p:nvPr>
            <p:ph type="title"/>
          </p:nvPr>
        </p:nvSpPr>
        <p:spPr>
          <a:xfrm>
            <a:off x="379475" y="120175"/>
            <a:ext cx="6603000" cy="1004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90"/>
              <a:buFont typeface="Aref Ruqaa"/>
              <a:buNone/>
            </a:pP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Chroma Subsampling</a:t>
            </a:r>
            <a:endParaRPr b="1" sz="4000">
              <a:solidFill>
                <a:schemeClr val="dk1"/>
              </a:solidFill>
              <a:latin typeface="Aref Ruqaa"/>
              <a:ea typeface="Aref Ruqaa"/>
              <a:cs typeface="Aref Ruqaa"/>
              <a:sym typeface="Aref Ruqaa"/>
            </a:endParaRPr>
          </a:p>
        </p:txBody>
      </p:sp>
      <p:sp>
        <p:nvSpPr>
          <p:cNvPr id="196" name="Google Shape;196;p32"/>
          <p:cNvSpPr txBox="1"/>
          <p:nvPr>
            <p:ph idx="1" type="subTitle"/>
          </p:nvPr>
        </p:nvSpPr>
        <p:spPr>
          <a:xfrm>
            <a:off x="633275" y="778850"/>
            <a:ext cx="6095400" cy="29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10000"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2258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Noto Sans Symbols"/>
              <a:buChar char="●"/>
            </a:pPr>
            <a:r>
              <a:rPr lang="en-GB" sz="1600">
                <a:latin typeface="Noto Sans Symbols"/>
                <a:ea typeface="Noto Sans Symbols"/>
                <a:cs typeface="Noto Sans Symbols"/>
                <a:sym typeface="Noto Sans Symbols"/>
              </a:rPr>
              <a:t>Reduces colour resolution to save </a:t>
            </a:r>
            <a:r>
              <a:rPr lang="en-GB" sz="1600">
                <a:latin typeface="Noto Sans Symbols"/>
                <a:ea typeface="Noto Sans Symbols"/>
                <a:cs typeface="Noto Sans Symbols"/>
                <a:sym typeface="Noto Sans Symbols"/>
              </a:rPr>
              <a:t>storage and bandwidth</a:t>
            </a:r>
            <a:endParaRPr sz="1600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2258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Noto Sans Symbols"/>
              <a:buChar char="●"/>
            </a:pPr>
            <a:r>
              <a:rPr lang="en-GB" sz="1600">
                <a:latin typeface="Noto Sans Symbols"/>
                <a:ea typeface="Noto Sans Symbols"/>
                <a:cs typeface="Noto Sans Symbols"/>
                <a:sym typeface="Noto Sans Symbols"/>
              </a:rPr>
              <a:t>Human vision is less sensitive to colour details</a:t>
            </a:r>
            <a:endParaRPr sz="1600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45720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Noto Sans Symbols"/>
                <a:ea typeface="Noto Sans Symbols"/>
                <a:cs typeface="Noto Sans Symbols"/>
                <a:sym typeface="Noto Sans Symbols"/>
              </a:rPr>
              <a:t>than brightness detail</a:t>
            </a:r>
            <a:endParaRPr sz="1600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2258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Noto Sans Symbols"/>
              <a:buChar char="●"/>
            </a:pPr>
            <a:r>
              <a:rPr lang="en-GB" sz="1600">
                <a:latin typeface="Noto Sans Symbols"/>
                <a:ea typeface="Noto Sans Symbols"/>
                <a:cs typeface="Noto Sans Symbols"/>
                <a:sym typeface="Noto Sans Symbols"/>
              </a:rPr>
              <a:t>Formats:</a:t>
            </a:r>
            <a:endParaRPr sz="1600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Noto Sans Symbols"/>
                <a:ea typeface="Noto Sans Symbols"/>
                <a:cs typeface="Noto Sans Symbols"/>
                <a:sym typeface="Noto Sans Symbols"/>
              </a:rPr>
              <a:t>4:4:4 - No subsampling</a:t>
            </a:r>
            <a:endParaRPr sz="1600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0" lvl="0" marL="9144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Noto Sans Symbols"/>
                <a:ea typeface="Noto Sans Symbols"/>
                <a:cs typeface="Noto Sans Symbols"/>
                <a:sym typeface="Noto Sans Symbols"/>
              </a:rPr>
              <a:t>4:2:2 - Half horizontal colour resolution</a:t>
            </a:r>
            <a:endParaRPr sz="1600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0" lvl="0" marL="9144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Noto Sans Symbols"/>
                <a:ea typeface="Noto Sans Symbols"/>
                <a:cs typeface="Noto Sans Symbols"/>
                <a:sym typeface="Noto Sans Symbols"/>
              </a:rPr>
              <a:t>4:2:0 - Half horizontal and vertical colour resolution</a:t>
            </a:r>
            <a:endParaRPr sz="1600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</a:rPr>
              <a:t> </a:t>
            </a:r>
            <a:endParaRPr sz="1600"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pic>
        <p:nvPicPr>
          <p:cNvPr id="197" name="Google Shape;197;p32"/>
          <p:cNvPicPr preferRelativeResize="0"/>
          <p:nvPr/>
        </p:nvPicPr>
        <p:blipFill rotWithShape="1">
          <a:blip r:embed="rId3">
            <a:alphaModFix/>
          </a:blip>
          <a:srcRect b="24409" l="0" r="0" t="0"/>
          <a:stretch/>
        </p:blipFill>
        <p:spPr>
          <a:xfrm>
            <a:off x="5882075" y="1736975"/>
            <a:ext cx="2766224" cy="1386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86763" y="3495296"/>
            <a:ext cx="4970476" cy="164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3"/>
          <p:cNvSpPr txBox="1"/>
          <p:nvPr>
            <p:ph idx="1" type="body"/>
          </p:nvPr>
        </p:nvSpPr>
        <p:spPr>
          <a:xfrm>
            <a:off x="716750" y="408974"/>
            <a:ext cx="7703700" cy="269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Skin Detection </a:t>
            </a:r>
            <a:endParaRPr b="1" sz="3000">
              <a:solidFill>
                <a:schemeClr val="dk1"/>
              </a:solidFill>
              <a:latin typeface="Aref Ruqaa"/>
              <a:ea typeface="Aref Ruqaa"/>
              <a:cs typeface="Aref Ruqaa"/>
              <a:sym typeface="Aref Ruq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chemeClr val="dk1"/>
              </a:solidFill>
              <a:latin typeface="Aref Ruqaa"/>
              <a:ea typeface="Aref Ruqaa"/>
              <a:cs typeface="Aref Ruqaa"/>
              <a:sym typeface="Aref Ruqaa"/>
            </a:endParaRPr>
          </a:p>
          <a:p>
            <a:pPr indent="-3111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Font typeface="Noto Sans Symbols"/>
              <a:buChar char="●"/>
            </a:pPr>
            <a:r>
              <a:rPr lang="en-GB" sz="1300">
                <a:latin typeface="Noto Sans Symbols"/>
                <a:ea typeface="Noto Sans Symbols"/>
                <a:cs typeface="Noto Sans Symbols"/>
                <a:sym typeface="Noto Sans Symbols"/>
              </a:rPr>
              <a:t>Skin tones cluster in a narrow range of Cb and Cr values</a:t>
            </a:r>
            <a:endParaRPr sz="1300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111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Font typeface="Noto Sans Symbols"/>
              <a:buChar char="●"/>
            </a:pPr>
            <a:r>
              <a:rPr lang="en-GB" sz="1300">
                <a:latin typeface="Noto Sans Symbols"/>
                <a:ea typeface="Noto Sans Symbols"/>
                <a:cs typeface="Noto Sans Symbols"/>
                <a:sym typeface="Noto Sans Symbols"/>
              </a:rPr>
              <a:t>Y (brightness) is ignored → reduces lighting effects</a:t>
            </a:r>
            <a:endParaRPr sz="1300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111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Font typeface="Noto Sans Symbols"/>
              <a:buChar char="●"/>
            </a:pPr>
            <a:r>
              <a:rPr lang="en-GB" sz="1300">
                <a:latin typeface="Noto Sans Symbols"/>
                <a:ea typeface="Noto Sans Symbols"/>
                <a:cs typeface="Noto Sans Symbols"/>
                <a:sym typeface="Noto Sans Symbols"/>
              </a:rPr>
              <a:t>Enables simple threshold-based segmentation</a:t>
            </a:r>
            <a:endParaRPr sz="1300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111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Font typeface="Noto Sans Symbols"/>
              <a:buChar char="●"/>
            </a:pPr>
            <a:r>
              <a:rPr lang="en-GB" sz="1300">
                <a:latin typeface="Noto Sans Symbols"/>
                <a:ea typeface="Noto Sans Symbols"/>
                <a:cs typeface="Noto Sans Symbols"/>
                <a:sym typeface="Noto Sans Symbols"/>
              </a:rPr>
              <a:t>Works across different skin tones and lighting conditions</a:t>
            </a:r>
            <a:endParaRPr b="1" sz="2700">
              <a:solidFill>
                <a:schemeClr val="dk1"/>
              </a:solidFill>
              <a:latin typeface="Aref Ruqaa"/>
              <a:ea typeface="Aref Ruqaa"/>
              <a:cs typeface="Aref Ruqaa"/>
              <a:sym typeface="Aref Ruq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4" name="Google Shape;204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6553" y="2825150"/>
            <a:ext cx="7624098" cy="20432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4"/>
          <p:cNvSpPr/>
          <p:nvPr/>
        </p:nvSpPr>
        <p:spPr>
          <a:xfrm>
            <a:off x="879825" y="182100"/>
            <a:ext cx="6873000" cy="95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000" u="none" cap="none" strike="noStrike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Failure cases &amp; limitations</a:t>
            </a:r>
            <a:endParaRPr b="0" i="0" sz="4000" u="none" cap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sp>
        <p:nvSpPr>
          <p:cNvPr id="210" name="Google Shape;210;p34"/>
          <p:cNvSpPr/>
          <p:nvPr/>
        </p:nvSpPr>
        <p:spPr>
          <a:xfrm>
            <a:off x="3293450" y="1228225"/>
            <a:ext cx="5143500" cy="312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238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oto Sans Symbols"/>
              <a:buChar char="●"/>
            </a:pPr>
            <a:r>
              <a:rPr lang="en-GB" sz="15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Chroma subsampling may cause colour bleeding and compression artifacts</a:t>
            </a:r>
            <a:endParaRPr sz="15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238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oto Sans Symbols"/>
              <a:buChar char="●"/>
            </a:pPr>
            <a:r>
              <a:rPr lang="en-GB" sz="15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Fine details such as text and UI elements can appear blurred</a:t>
            </a:r>
            <a:endParaRPr sz="15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238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oto Sans Symbols"/>
              <a:buChar char="●"/>
            </a:pPr>
            <a:r>
              <a:rPr lang="en-GB" sz="15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Not ideal for professional graphics or colour-critical editing</a:t>
            </a:r>
            <a:endParaRPr sz="15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238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oto Sans Symbols"/>
              <a:buChar char="●"/>
            </a:pPr>
            <a:r>
              <a:rPr lang="en-GB" sz="15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RGB is preferred for colour-critical applications </a:t>
            </a:r>
            <a:endParaRPr sz="15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238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oto Sans Symbols"/>
              <a:buChar char="●"/>
            </a:pPr>
            <a:r>
              <a:rPr lang="en-GB" sz="15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Excessive compression reduces image quality visibly</a:t>
            </a:r>
            <a:endParaRPr sz="15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pic>
        <p:nvPicPr>
          <p:cNvPr id="211" name="Google Shape;211;p34" title="output.png"/>
          <p:cNvPicPr preferRelativeResize="0"/>
          <p:nvPr/>
        </p:nvPicPr>
        <p:blipFill rotWithShape="1">
          <a:blip r:embed="rId3">
            <a:alphaModFix/>
          </a:blip>
          <a:srcRect b="0" l="50000" r="25052" t="0"/>
          <a:stretch/>
        </p:blipFill>
        <p:spPr>
          <a:xfrm>
            <a:off x="1106200" y="1228225"/>
            <a:ext cx="1884550" cy="1552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34" title="output.png"/>
          <p:cNvPicPr preferRelativeResize="0"/>
          <p:nvPr/>
        </p:nvPicPr>
        <p:blipFill rotWithShape="1">
          <a:blip r:embed="rId3">
            <a:alphaModFix/>
          </a:blip>
          <a:srcRect b="0" l="74845" r="0" t="0"/>
          <a:stretch/>
        </p:blipFill>
        <p:spPr>
          <a:xfrm>
            <a:off x="1106200" y="2950475"/>
            <a:ext cx="1884550" cy="15397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5"/>
          <p:cNvSpPr/>
          <p:nvPr/>
        </p:nvSpPr>
        <p:spPr>
          <a:xfrm>
            <a:off x="476280" y="476280"/>
            <a:ext cx="2285700" cy="95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5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5000" u="none" cap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sp>
        <p:nvSpPr>
          <p:cNvPr id="218" name="Google Shape;218;p35"/>
          <p:cNvSpPr/>
          <p:nvPr/>
        </p:nvSpPr>
        <p:spPr>
          <a:xfrm>
            <a:off x="476280" y="1428840"/>
            <a:ext cx="3619200" cy="14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LAB</a:t>
            </a:r>
            <a:endParaRPr b="0" i="0" sz="4000" u="none" cap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pic>
        <p:nvPicPr>
          <p:cNvPr id="219" name="Google Shape;219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5450" y="476275"/>
            <a:ext cx="5777925" cy="4381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6"/>
          <p:cNvSpPr/>
          <p:nvPr/>
        </p:nvSpPr>
        <p:spPr>
          <a:xfrm>
            <a:off x="476280" y="476280"/>
            <a:ext cx="3619200" cy="95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LAB</a:t>
            </a:r>
            <a:endParaRPr b="1" sz="3000">
              <a:solidFill>
                <a:schemeClr val="dk1"/>
              </a:solidFill>
              <a:latin typeface="Aref Ruqaa"/>
              <a:ea typeface="Aref Ruqaa"/>
              <a:cs typeface="Aref Ruqaa"/>
              <a:sym typeface="Aref Ruqa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3000" u="none" cap="none" strike="noStrike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fundamentals</a:t>
            </a:r>
            <a:endParaRPr b="0" i="0" sz="3000" u="none" cap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sp>
        <p:nvSpPr>
          <p:cNvPr id="225" name="Google Shape;225;p36"/>
          <p:cNvSpPr/>
          <p:nvPr/>
        </p:nvSpPr>
        <p:spPr>
          <a:xfrm>
            <a:off x="476280" y="1905120"/>
            <a:ext cx="3619200" cy="27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We have 3 LAB axes:</a:t>
            </a:r>
            <a:endParaRPr sz="11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oto Sans Symbols"/>
              <a:buChar char="●"/>
            </a:pPr>
            <a:r>
              <a:rPr lang="en-GB" sz="11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L* - lightness</a:t>
            </a:r>
            <a:endParaRPr sz="11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oto Sans Symbols"/>
              <a:buChar char="●"/>
            </a:pPr>
            <a:r>
              <a:rPr lang="en-GB" sz="11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a*- green-red</a:t>
            </a:r>
            <a:endParaRPr sz="11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oto Sans Symbols"/>
              <a:buChar char="●"/>
            </a:pPr>
            <a:r>
              <a:rPr lang="en-GB" sz="11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b*- blue-yellow</a:t>
            </a:r>
            <a:endParaRPr sz="11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oto Sans Symbols"/>
              <a:buChar char="●"/>
            </a:pPr>
            <a:r>
              <a:rPr lang="en-GB" sz="11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Designed to model human colour perception, </a:t>
            </a:r>
            <a:r>
              <a:rPr lang="en-GB" sz="11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separated</a:t>
            </a:r>
            <a:r>
              <a:rPr lang="en-GB" sz="11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brightness from colour information.</a:t>
            </a:r>
            <a:endParaRPr sz="11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oto Sans Symbols"/>
              <a:buChar char="●"/>
            </a:pPr>
            <a:r>
              <a:rPr lang="en-GB" sz="11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The </a:t>
            </a:r>
            <a:r>
              <a:rPr lang="en-GB" sz="11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separation</a:t>
            </a:r>
            <a:r>
              <a:rPr lang="en-GB" sz="11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makes LAB </a:t>
            </a:r>
            <a:r>
              <a:rPr lang="en-GB" sz="11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useful</a:t>
            </a:r>
            <a:r>
              <a:rPr lang="en-GB" sz="11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in image processing because lighting and colour can be </a:t>
            </a:r>
            <a:r>
              <a:rPr lang="en-GB" sz="11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analyzed</a:t>
            </a:r>
            <a:r>
              <a:rPr lang="en-GB" sz="1100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 independently </a:t>
            </a:r>
            <a:endParaRPr sz="11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pic>
        <p:nvPicPr>
          <p:cNvPr id="226" name="Google Shape;226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4125" y="476275"/>
            <a:ext cx="3619200" cy="3619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7"/>
          <p:cNvSpPr txBox="1"/>
          <p:nvPr>
            <p:ph type="title"/>
          </p:nvPr>
        </p:nvSpPr>
        <p:spPr>
          <a:xfrm>
            <a:off x="479575" y="253850"/>
            <a:ext cx="8271300" cy="119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ΔE* - Measuring Colour Difference in LAB</a:t>
            </a:r>
            <a:endParaRPr b="1" sz="4000">
              <a:solidFill>
                <a:schemeClr val="dk1"/>
              </a:solidFill>
              <a:latin typeface="Aref Ruqaa"/>
              <a:ea typeface="Aref Ruqaa"/>
              <a:cs typeface="Aref Ruqaa"/>
              <a:sym typeface="Aref Ruqaa"/>
            </a:endParaRPr>
          </a:p>
        </p:txBody>
      </p:sp>
      <p:sp>
        <p:nvSpPr>
          <p:cNvPr id="232" name="Google Shape;232;p37"/>
          <p:cNvSpPr txBox="1"/>
          <p:nvPr>
            <p:ph idx="1" type="subTitle"/>
          </p:nvPr>
        </p:nvSpPr>
        <p:spPr>
          <a:xfrm>
            <a:off x="4906700" y="1254175"/>
            <a:ext cx="3844200" cy="37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t/>
            </a:r>
            <a:endParaRPr b="1" sz="5043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b="1" lang="en-GB" sz="5043"/>
              <a:t>ΔE* = √[(ΔL*)² + (Δa*)² + (Δb*)²]</a:t>
            </a:r>
            <a:endParaRPr b="1" sz="5043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t/>
            </a:r>
            <a:endParaRPr b="1" sz="5043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t/>
            </a:r>
            <a:endParaRPr b="1" sz="5043"/>
          </a:p>
          <a:p>
            <a:pPr indent="-308824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Noto Sans Symbols"/>
              <a:buChar char="●"/>
            </a:pPr>
            <a:r>
              <a:rPr lang="en-GB" sz="5053">
                <a:latin typeface="Noto Sans Symbols"/>
                <a:ea typeface="Noto Sans Symbols"/>
                <a:cs typeface="Noto Sans Symbols"/>
                <a:sym typeface="Noto Sans Symbols"/>
              </a:rPr>
              <a:t>Perceptually uniform</a:t>
            </a:r>
            <a:endParaRPr sz="5053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08824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Noto Sans Symbols"/>
              <a:buChar char="○"/>
            </a:pPr>
            <a:r>
              <a:rPr lang="en-GB" sz="5053">
                <a:latin typeface="Noto Sans Symbols"/>
                <a:ea typeface="Noto Sans Symbols"/>
                <a:cs typeface="Noto Sans Symbols"/>
                <a:sym typeface="Noto Sans Symbols"/>
              </a:rPr>
              <a:t>ΔE* = 1 - approx the smallest difference eyes can detect</a:t>
            </a:r>
            <a:endParaRPr sz="5053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08824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Noto Sans Symbols"/>
              <a:buChar char="●"/>
            </a:pPr>
            <a:r>
              <a:rPr lang="en-GB" sz="5053">
                <a:latin typeface="Noto Sans Symbols"/>
                <a:ea typeface="Noto Sans Symbols"/>
                <a:cs typeface="Noto Sans Symbols"/>
                <a:sym typeface="Noto Sans Symbols"/>
              </a:rPr>
              <a:t>ΔE = 0 Colours are identical</a:t>
            </a:r>
            <a:endParaRPr sz="5053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08824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Noto Sans Symbols"/>
              <a:buChar char="●"/>
            </a:pPr>
            <a:r>
              <a:rPr lang="en-GB" sz="5053">
                <a:latin typeface="Noto Sans Symbols"/>
                <a:ea typeface="Noto Sans Symbols"/>
                <a:cs typeface="Noto Sans Symbols"/>
                <a:sym typeface="Noto Sans Symbols"/>
              </a:rPr>
              <a:t>Small ΔE Colours are very similar </a:t>
            </a:r>
            <a:endParaRPr sz="5053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08824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Noto Sans Symbols"/>
              <a:buChar char="○"/>
            </a:pPr>
            <a:r>
              <a:rPr lang="en-GB" sz="5053">
                <a:latin typeface="Noto Sans Symbols"/>
                <a:ea typeface="Noto Sans Symbols"/>
                <a:cs typeface="Noto Sans Symbols"/>
                <a:sym typeface="Noto Sans Symbols"/>
              </a:rPr>
              <a:t>Large ΔE Colours are noticeably different </a:t>
            </a:r>
            <a:endParaRPr sz="5053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53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08824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Noto Sans Symbols"/>
              <a:buChar char="●"/>
            </a:pPr>
            <a:r>
              <a:rPr lang="en-GB" sz="5053">
                <a:latin typeface="Noto Sans Symbols"/>
                <a:ea typeface="Noto Sans Symbols"/>
                <a:cs typeface="Noto Sans Symbols"/>
                <a:sym typeface="Noto Sans Symbols"/>
              </a:rPr>
              <a:t>&lt; 1 Not visible to the human eye </a:t>
            </a:r>
            <a:endParaRPr sz="5053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08824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Noto Sans Symbols"/>
              <a:buChar char="●"/>
            </a:pPr>
            <a:r>
              <a:rPr lang="en-GB" sz="5053">
                <a:latin typeface="Noto Sans Symbols"/>
                <a:ea typeface="Noto Sans Symbols"/>
                <a:cs typeface="Noto Sans Symbols"/>
                <a:sym typeface="Noto Sans Symbols"/>
              </a:rPr>
              <a:t>1 – 2 Only noticeable by a trained expert 2 – 3.5 Acceptable in most industries</a:t>
            </a:r>
            <a:endParaRPr sz="5053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08824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Noto Sans Symbols"/>
              <a:buChar char="●"/>
            </a:pPr>
            <a:r>
              <a:rPr lang="en-GB" sz="5053">
                <a:latin typeface="Noto Sans Symbols"/>
                <a:ea typeface="Noto Sans Symbols"/>
                <a:cs typeface="Noto Sans Symbols"/>
                <a:sym typeface="Noto Sans Symbols"/>
              </a:rPr>
              <a:t>&gt; 5 Obvious mismatch (rejected) </a:t>
            </a:r>
            <a:endParaRPr sz="5053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60191"/>
              <a:buFont typeface="Arial"/>
              <a:buNone/>
            </a:pPr>
            <a:r>
              <a:t/>
            </a:r>
            <a:endParaRPr sz="1828">
              <a:solidFill>
                <a:schemeClr val="dk2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5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ct val="68750"/>
              <a:buFont typeface="Arial"/>
              <a:buNone/>
            </a:pPr>
            <a:r>
              <a:t/>
            </a:r>
            <a:endParaRPr sz="1600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Font typeface="Albert Sans"/>
              <a:buNone/>
            </a:pPr>
            <a:r>
              <a:t/>
            </a:r>
            <a:endParaRPr sz="1600"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pic>
        <p:nvPicPr>
          <p:cNvPr id="233" name="Google Shape;233;p37" title="Screenshot 2026-05-13 202848.png"/>
          <p:cNvPicPr preferRelativeResize="0"/>
          <p:nvPr/>
        </p:nvPicPr>
        <p:blipFill rotWithShape="1">
          <a:blip r:embed="rId3">
            <a:alphaModFix/>
          </a:blip>
          <a:srcRect b="0" l="1565" r="0" t="0"/>
          <a:stretch/>
        </p:blipFill>
        <p:spPr>
          <a:xfrm>
            <a:off x="817925" y="1590075"/>
            <a:ext cx="3451224" cy="327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8"/>
          <p:cNvSpPr txBox="1"/>
          <p:nvPr>
            <p:ph type="title"/>
          </p:nvPr>
        </p:nvSpPr>
        <p:spPr>
          <a:xfrm>
            <a:off x="898700" y="492775"/>
            <a:ext cx="7127400" cy="63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1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Failure cases &amp; limitations</a:t>
            </a:r>
            <a:endParaRPr/>
          </a:p>
        </p:txBody>
      </p:sp>
      <p:sp>
        <p:nvSpPr>
          <p:cNvPr id="239" name="Google Shape;239;p38"/>
          <p:cNvSpPr txBox="1"/>
          <p:nvPr>
            <p:ph idx="1" type="body"/>
          </p:nvPr>
        </p:nvSpPr>
        <p:spPr>
          <a:xfrm>
            <a:off x="749850" y="1394425"/>
            <a:ext cx="8298900" cy="197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61"/>
              <a:buFont typeface="Arial"/>
              <a:buNone/>
            </a:pPr>
            <a:r>
              <a:rPr lang="en-GB" sz="1181"/>
              <a:t>- Not perfectly perceptually uniform, highly saturated colours can still produce inaccurate ΔE* values</a:t>
            </a:r>
            <a:endParaRPr sz="1181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61"/>
              <a:buFont typeface="Arial"/>
              <a:buNone/>
            </a:pPr>
            <a:r>
              <a:t/>
            </a:r>
            <a:endParaRPr sz="1181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61"/>
              <a:buFont typeface="Arial"/>
              <a:buNone/>
            </a:pPr>
            <a:r>
              <a:rPr lang="en-GB" sz="1181"/>
              <a:t>- Computationally expensive, the 5-step pipeline is significantly slower than working directly in RGB or HSV</a:t>
            </a:r>
            <a:endParaRPr sz="1181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61"/>
              <a:buFont typeface="Arial"/>
              <a:buNone/>
            </a:pPr>
            <a:r>
              <a:t/>
            </a:r>
            <a:endParaRPr sz="1181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61"/>
              <a:buNone/>
            </a:pPr>
            <a:r>
              <a:rPr lang="en-GB" sz="1181"/>
              <a:t>- Noise amplification ,dark regions bec</a:t>
            </a:r>
            <a:r>
              <a:rPr lang="en-GB" sz="1181"/>
              <a:t>ome noisier after conversion</a:t>
            </a:r>
            <a:endParaRPr sz="1181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61"/>
              <a:buNone/>
            </a:pPr>
            <a:r>
              <a:t/>
            </a:r>
            <a:endParaRPr sz="1181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61"/>
              <a:buNone/>
            </a:pPr>
            <a:r>
              <a:rPr lang="en-GB" sz="1181"/>
              <a:t>These limitations led to improved formulas -CIE94 and CIEDE2000, developed to better model human perception</a:t>
            </a:r>
            <a:endParaRPr sz="1181"/>
          </a:p>
          <a:p>
            <a:pPr indent="0" lvl="0" marL="0" rtl="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SzPts val="661"/>
              <a:buNone/>
            </a:pPr>
            <a:r>
              <a:t/>
            </a:r>
            <a:endParaRPr sz="1081"/>
          </a:p>
        </p:txBody>
      </p:sp>
      <p:pic>
        <p:nvPicPr>
          <p:cNvPr id="240" name="Google Shape;240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70188" y="3498525"/>
            <a:ext cx="5584424" cy="15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9"/>
          <p:cNvSpPr txBox="1"/>
          <p:nvPr>
            <p:ph type="title"/>
          </p:nvPr>
        </p:nvSpPr>
        <p:spPr>
          <a:xfrm>
            <a:off x="3020350" y="281625"/>
            <a:ext cx="5965200" cy="119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RGB → LAB conversion</a:t>
            </a:r>
            <a:endParaRPr b="1" sz="4000">
              <a:solidFill>
                <a:schemeClr val="dk1"/>
              </a:solidFill>
              <a:latin typeface="Aref Ruqaa"/>
              <a:ea typeface="Aref Ruqaa"/>
              <a:cs typeface="Aref Ruqaa"/>
              <a:sym typeface="Aref Ruq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t/>
            </a:r>
            <a:endParaRPr b="1" sz="3000">
              <a:solidFill>
                <a:schemeClr val="dk1"/>
              </a:solidFill>
              <a:latin typeface="Aref Ruqaa"/>
              <a:ea typeface="Aref Ruqaa"/>
              <a:cs typeface="Aref Ruqaa"/>
              <a:sym typeface="Aref Ruqaa"/>
            </a:endParaRPr>
          </a:p>
        </p:txBody>
      </p:sp>
      <p:sp>
        <p:nvSpPr>
          <p:cNvPr id="246" name="Google Shape;246;p39"/>
          <p:cNvSpPr txBox="1"/>
          <p:nvPr>
            <p:ph idx="1" type="subTitle"/>
          </p:nvPr>
        </p:nvSpPr>
        <p:spPr>
          <a:xfrm>
            <a:off x="3948050" y="1471725"/>
            <a:ext cx="5037600" cy="345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9561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18"/>
              <a:buFont typeface="Albert Sans"/>
              <a:buChar char="●"/>
            </a:pPr>
            <a:r>
              <a:rPr lang="en-GB" sz="1118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RGB must be converted in two stages - first to XYZ, then to LAB</a:t>
            </a:r>
            <a:endParaRPr sz="1118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299561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18"/>
              <a:buFont typeface="Albert Sans"/>
              <a:buChar char="●"/>
            </a:pPr>
            <a:r>
              <a:rPr lang="en-GB" sz="1118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XYZ acts as a neutral middle ground that any colour system can connect to</a:t>
            </a:r>
            <a:endParaRPr sz="1118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299561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18"/>
              <a:buFont typeface="Noto Sans Symbols"/>
              <a:buChar char="●"/>
            </a:pPr>
            <a:r>
              <a:rPr lang="en-GB" sz="1118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5 Step Pipeline</a:t>
            </a:r>
            <a:endParaRPr sz="1118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299561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18"/>
              <a:buFont typeface="Albert Sans"/>
              <a:buChar char="●"/>
            </a:pPr>
            <a:r>
              <a:rPr lang="en-GB" sz="1118">
                <a:solidFill>
                  <a:schemeClr val="dk2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LAB is the destination - equal steps in LAB look equally different to the human eye</a:t>
            </a:r>
            <a:endParaRPr sz="1118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pic>
        <p:nvPicPr>
          <p:cNvPr id="247" name="Google Shape;247;p39" title="Normalise-Photoroom.png"/>
          <p:cNvPicPr preferRelativeResize="0"/>
          <p:nvPr/>
        </p:nvPicPr>
        <p:blipFill rotWithShape="1">
          <a:blip r:embed="rId3">
            <a:alphaModFix/>
          </a:blip>
          <a:srcRect b="-2821" l="6503" r="10440" t="-2821"/>
          <a:stretch/>
        </p:blipFill>
        <p:spPr>
          <a:xfrm>
            <a:off x="-199623" y="88"/>
            <a:ext cx="5700551" cy="514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0"/>
          <p:cNvSpPr txBox="1"/>
          <p:nvPr>
            <p:ph type="title"/>
          </p:nvPr>
        </p:nvSpPr>
        <p:spPr>
          <a:xfrm>
            <a:off x="1114550" y="392225"/>
            <a:ext cx="7765500" cy="142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0"/>
              <a:buFont typeface="Aref Ruqaa"/>
              <a:buNone/>
            </a:pP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Failure Case: Skipping Linearisation for LAB</a:t>
            </a:r>
            <a:endParaRPr b="0" sz="40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40"/>
          <p:cNvSpPr txBox="1"/>
          <p:nvPr>
            <p:ph idx="1" type="subTitle"/>
          </p:nvPr>
        </p:nvSpPr>
        <p:spPr>
          <a:xfrm>
            <a:off x="1114560" y="2162160"/>
            <a:ext cx="6095400" cy="222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2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lbert Sans"/>
              <a:buNone/>
            </a:pPr>
            <a:r>
              <a:t/>
            </a:r>
            <a:endParaRPr sz="1600">
              <a:solidFill>
                <a:schemeClr val="dk2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pic>
        <p:nvPicPr>
          <p:cNvPr id="254" name="Google Shape;254;p40" title="ouput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162154"/>
            <a:ext cx="9144001" cy="25055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1"/>
          <p:cNvSpPr txBox="1"/>
          <p:nvPr>
            <p:ph type="title"/>
          </p:nvPr>
        </p:nvSpPr>
        <p:spPr>
          <a:xfrm>
            <a:off x="1114497" y="213925"/>
            <a:ext cx="6095400" cy="119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0"/>
              <a:buFont typeface="Aref Ruqaa"/>
              <a:buNone/>
            </a:pPr>
            <a:r>
              <a:rPr b="1" lang="en-GB" sz="40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Conversion Limitations</a:t>
            </a:r>
            <a:endParaRPr b="0" sz="40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41"/>
          <p:cNvSpPr txBox="1"/>
          <p:nvPr>
            <p:ph idx="1" type="subTitle"/>
          </p:nvPr>
        </p:nvSpPr>
        <p:spPr>
          <a:xfrm>
            <a:off x="1114550" y="2517727"/>
            <a:ext cx="6095400" cy="187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Noto Sans Symbols"/>
              <a:buChar char="●"/>
            </a:pPr>
            <a:r>
              <a:rPr lang="en-GB" sz="1600">
                <a:latin typeface="Noto Sans Symbols"/>
                <a:ea typeface="Noto Sans Symbols"/>
                <a:cs typeface="Noto Sans Symbols"/>
                <a:sym typeface="Noto Sans Symbols"/>
              </a:rPr>
              <a:t>When speed is critical</a:t>
            </a:r>
            <a:endParaRPr sz="1600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30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oto Sans Symbols"/>
              <a:buChar char="●"/>
            </a:pPr>
            <a:r>
              <a:rPr lang="en-GB" sz="1600">
                <a:latin typeface="Noto Sans Symbols"/>
                <a:ea typeface="Noto Sans Symbols"/>
                <a:cs typeface="Noto Sans Symbols"/>
                <a:sym typeface="Noto Sans Symbols"/>
              </a:rPr>
              <a:t>Working within entirely one space</a:t>
            </a:r>
            <a:endParaRPr sz="1600"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30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oto Sans Symbols"/>
              <a:buChar char="●"/>
            </a:pPr>
            <a:r>
              <a:rPr lang="en-GB" sz="1600">
                <a:latin typeface="Noto Sans Symbols"/>
                <a:ea typeface="Noto Sans Symbols"/>
                <a:cs typeface="Noto Sans Symbols"/>
                <a:sym typeface="Noto Sans Symbols"/>
              </a:rPr>
              <a:t>When OpenCV already handles it</a:t>
            </a:r>
            <a:endParaRPr sz="1600"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pic>
        <p:nvPicPr>
          <p:cNvPr id="261" name="Google Shape;261;p41" title="OpenCV_Logo-Photoroo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04850" y="1790550"/>
            <a:ext cx="3810000" cy="28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 txBox="1"/>
          <p:nvPr>
            <p:ph type="title"/>
          </p:nvPr>
        </p:nvSpPr>
        <p:spPr>
          <a:xfrm>
            <a:off x="-945160" y="5473090"/>
            <a:ext cx="6768600" cy="204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42"/>
          <p:cNvSpPr txBox="1"/>
          <p:nvPr>
            <p:ph idx="1" type="body"/>
          </p:nvPr>
        </p:nvSpPr>
        <p:spPr>
          <a:xfrm>
            <a:off x="1334700" y="1550850"/>
            <a:ext cx="6474600" cy="1846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0"/>
              <a:buFont typeface="Aref Ruqaa"/>
              <a:buNone/>
            </a:pPr>
            <a:r>
              <a:rPr b="1" lang="en-GB" sz="5100">
                <a:solidFill>
                  <a:schemeClr val="dk1"/>
                </a:solidFill>
                <a:latin typeface="Aref Ruqaa"/>
                <a:ea typeface="Aref Ruqaa"/>
                <a:cs typeface="Aref Ruqaa"/>
                <a:sym typeface="Aref Ruqaa"/>
              </a:rPr>
              <a:t>Thank you for your attention !</a:t>
            </a:r>
            <a:endParaRPr sz="5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inimalist Watercolor Stains Theme by Slidesgo">
  <a:themeElements>
    <a:clrScheme name="Simple Light">
      <a:dk1>
        <a:srgbClr val="8D0808"/>
      </a:dk1>
      <a:lt1>
        <a:srgbClr val="FFFFFF"/>
      </a:lt1>
      <a:dk2>
        <a:srgbClr val="000000"/>
      </a:dk2>
      <a:lt2>
        <a:srgbClr val="164799"/>
      </a:lt2>
      <a:accent1>
        <a:srgbClr val="5ECE3D"/>
      </a:accent1>
      <a:accent2>
        <a:srgbClr val="F0F0F0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